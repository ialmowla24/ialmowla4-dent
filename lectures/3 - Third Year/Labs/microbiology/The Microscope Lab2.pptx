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1" r:id="rId3"/>
    <p:sldId id="282" r:id="rId4"/>
    <p:sldId id="257" r:id="rId5"/>
    <p:sldId id="258" r:id="rId6"/>
    <p:sldId id="259" r:id="rId7"/>
    <p:sldId id="260" r:id="rId8"/>
    <p:sldId id="261" r:id="rId9"/>
    <p:sldId id="262" r:id="rId10"/>
    <p:sldId id="283" r:id="rId11"/>
    <p:sldId id="280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256" y="-3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59759"/>
            <a:ext cx="12192000" cy="198755"/>
          </a:xfrm>
          <a:custGeom>
            <a:avLst/>
            <a:gdLst/>
            <a:ahLst/>
            <a:cxnLst/>
            <a:rect l="l" t="t" r="r" b="b"/>
            <a:pathLst>
              <a:path w="12192000" h="198754">
                <a:moveTo>
                  <a:pt x="12192001" y="0"/>
                </a:moveTo>
                <a:lnTo>
                  <a:pt x="0" y="0"/>
                </a:lnTo>
                <a:lnTo>
                  <a:pt x="1" y="198240"/>
                </a:lnTo>
                <a:lnTo>
                  <a:pt x="12192001" y="198240"/>
                </a:lnTo>
                <a:lnTo>
                  <a:pt x="1219200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79" y="6676116"/>
            <a:ext cx="226809" cy="18188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6700" y="6661834"/>
            <a:ext cx="267931" cy="168262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785600" y="6473532"/>
            <a:ext cx="406400" cy="372110"/>
          </a:xfrm>
          <a:custGeom>
            <a:avLst/>
            <a:gdLst/>
            <a:ahLst/>
            <a:cxnLst/>
            <a:rect l="l" t="t" r="r" b="b"/>
            <a:pathLst>
              <a:path w="406400" h="372109">
                <a:moveTo>
                  <a:pt x="406400" y="0"/>
                </a:moveTo>
                <a:lnTo>
                  <a:pt x="0" y="185877"/>
                </a:lnTo>
                <a:lnTo>
                  <a:pt x="406400" y="371765"/>
                </a:lnTo>
                <a:lnTo>
                  <a:pt x="406400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8344280" y="5607519"/>
            <a:ext cx="520700" cy="542925"/>
          </a:xfrm>
          <a:custGeom>
            <a:avLst/>
            <a:gdLst/>
            <a:ahLst/>
            <a:cxnLst/>
            <a:rect l="l" t="t" r="r" b="b"/>
            <a:pathLst>
              <a:path w="520700" h="542925">
                <a:moveTo>
                  <a:pt x="457580" y="0"/>
                </a:moveTo>
                <a:lnTo>
                  <a:pt x="0" y="377164"/>
                </a:lnTo>
                <a:lnTo>
                  <a:pt x="520700" y="542772"/>
                </a:lnTo>
                <a:lnTo>
                  <a:pt x="45758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g object 21"/>
          <p:cNvSpPr/>
          <p:nvPr/>
        </p:nvSpPr>
        <p:spPr>
          <a:xfrm>
            <a:off x="7941309" y="5306186"/>
            <a:ext cx="370840" cy="381000"/>
          </a:xfrm>
          <a:custGeom>
            <a:avLst/>
            <a:gdLst/>
            <a:ahLst/>
            <a:cxnLst/>
            <a:rect l="l" t="t" r="r" b="b"/>
            <a:pathLst>
              <a:path w="370840" h="381000">
                <a:moveTo>
                  <a:pt x="355981" y="0"/>
                </a:moveTo>
                <a:lnTo>
                  <a:pt x="0" y="293433"/>
                </a:lnTo>
                <a:lnTo>
                  <a:pt x="370713" y="380491"/>
                </a:lnTo>
                <a:lnTo>
                  <a:pt x="35598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g object 22"/>
          <p:cNvSpPr/>
          <p:nvPr/>
        </p:nvSpPr>
        <p:spPr>
          <a:xfrm>
            <a:off x="7941309" y="5306186"/>
            <a:ext cx="370840" cy="381000"/>
          </a:xfrm>
          <a:custGeom>
            <a:avLst/>
            <a:gdLst/>
            <a:ahLst/>
            <a:cxnLst/>
            <a:rect l="l" t="t" r="r" b="b"/>
            <a:pathLst>
              <a:path w="370840" h="381000">
                <a:moveTo>
                  <a:pt x="355981" y="0"/>
                </a:moveTo>
                <a:lnTo>
                  <a:pt x="370713" y="380491"/>
                </a:lnTo>
                <a:lnTo>
                  <a:pt x="0" y="293433"/>
                </a:lnTo>
                <a:lnTo>
                  <a:pt x="355981" y="0"/>
                </a:lnTo>
                <a:close/>
              </a:path>
            </a:pathLst>
          </a:custGeom>
          <a:ln w="127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g object 23"/>
          <p:cNvSpPr/>
          <p:nvPr/>
        </p:nvSpPr>
        <p:spPr>
          <a:xfrm>
            <a:off x="9042654" y="5579617"/>
            <a:ext cx="370840" cy="381000"/>
          </a:xfrm>
          <a:custGeom>
            <a:avLst/>
            <a:gdLst/>
            <a:ahLst/>
            <a:cxnLst/>
            <a:rect l="l" t="t" r="r" b="b"/>
            <a:pathLst>
              <a:path w="370840" h="381000">
                <a:moveTo>
                  <a:pt x="355980" y="0"/>
                </a:moveTo>
                <a:lnTo>
                  <a:pt x="0" y="293433"/>
                </a:lnTo>
                <a:lnTo>
                  <a:pt x="370713" y="380479"/>
                </a:lnTo>
                <a:lnTo>
                  <a:pt x="35598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g object 24"/>
          <p:cNvSpPr/>
          <p:nvPr/>
        </p:nvSpPr>
        <p:spPr>
          <a:xfrm>
            <a:off x="9042654" y="5579617"/>
            <a:ext cx="370840" cy="381000"/>
          </a:xfrm>
          <a:custGeom>
            <a:avLst/>
            <a:gdLst/>
            <a:ahLst/>
            <a:cxnLst/>
            <a:rect l="l" t="t" r="r" b="b"/>
            <a:pathLst>
              <a:path w="370840" h="381000">
                <a:moveTo>
                  <a:pt x="355980" y="0"/>
                </a:moveTo>
                <a:lnTo>
                  <a:pt x="370713" y="380479"/>
                </a:lnTo>
                <a:lnTo>
                  <a:pt x="0" y="293433"/>
                </a:lnTo>
                <a:lnTo>
                  <a:pt x="355980" y="0"/>
                </a:lnTo>
                <a:close/>
              </a:path>
            </a:pathLst>
          </a:custGeom>
          <a:ln w="127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g object 25"/>
          <p:cNvSpPr/>
          <p:nvPr/>
        </p:nvSpPr>
        <p:spPr>
          <a:xfrm>
            <a:off x="10460862" y="775462"/>
            <a:ext cx="521334" cy="542925"/>
          </a:xfrm>
          <a:custGeom>
            <a:avLst/>
            <a:gdLst/>
            <a:ahLst/>
            <a:cxnLst/>
            <a:rect l="l" t="t" r="r" b="b"/>
            <a:pathLst>
              <a:path w="521334" h="542925">
                <a:moveTo>
                  <a:pt x="457580" y="0"/>
                </a:moveTo>
                <a:lnTo>
                  <a:pt x="0" y="377189"/>
                </a:lnTo>
                <a:lnTo>
                  <a:pt x="520826" y="542671"/>
                </a:lnTo>
                <a:lnTo>
                  <a:pt x="45758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g object 26"/>
          <p:cNvSpPr/>
          <p:nvPr/>
        </p:nvSpPr>
        <p:spPr>
          <a:xfrm>
            <a:off x="10058018" y="474091"/>
            <a:ext cx="370840" cy="381000"/>
          </a:xfrm>
          <a:custGeom>
            <a:avLst/>
            <a:gdLst/>
            <a:ahLst/>
            <a:cxnLst/>
            <a:rect l="l" t="t" r="r" b="b"/>
            <a:pathLst>
              <a:path w="370840" h="381000">
                <a:moveTo>
                  <a:pt x="355980" y="0"/>
                </a:moveTo>
                <a:lnTo>
                  <a:pt x="0" y="293497"/>
                </a:lnTo>
                <a:lnTo>
                  <a:pt x="370712" y="380492"/>
                </a:lnTo>
                <a:lnTo>
                  <a:pt x="35598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g object 27"/>
          <p:cNvSpPr/>
          <p:nvPr/>
        </p:nvSpPr>
        <p:spPr>
          <a:xfrm>
            <a:off x="11159363" y="747522"/>
            <a:ext cx="370840" cy="381000"/>
          </a:xfrm>
          <a:custGeom>
            <a:avLst/>
            <a:gdLst/>
            <a:ahLst/>
            <a:cxnLst/>
            <a:rect l="l" t="t" r="r" b="b"/>
            <a:pathLst>
              <a:path w="370840" h="381000">
                <a:moveTo>
                  <a:pt x="355980" y="0"/>
                </a:moveTo>
                <a:lnTo>
                  <a:pt x="0" y="293369"/>
                </a:lnTo>
                <a:lnTo>
                  <a:pt x="370585" y="380491"/>
                </a:lnTo>
                <a:lnTo>
                  <a:pt x="35598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g object 28"/>
          <p:cNvSpPr/>
          <p:nvPr/>
        </p:nvSpPr>
        <p:spPr>
          <a:xfrm>
            <a:off x="0" y="49149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828" y="0"/>
                </a:moveTo>
                <a:lnTo>
                  <a:pt x="0" y="0"/>
                </a:lnTo>
                <a:lnTo>
                  <a:pt x="0" y="304419"/>
                </a:lnTo>
                <a:lnTo>
                  <a:pt x="228828" y="304419"/>
                </a:lnTo>
                <a:lnTo>
                  <a:pt x="381000" y="152146"/>
                </a:lnTo>
                <a:lnTo>
                  <a:pt x="2288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g object 29"/>
          <p:cNvSpPr/>
          <p:nvPr/>
        </p:nvSpPr>
        <p:spPr>
          <a:xfrm>
            <a:off x="0" y="49149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0"/>
                </a:moveTo>
                <a:lnTo>
                  <a:pt x="228828" y="0"/>
                </a:lnTo>
                <a:lnTo>
                  <a:pt x="381000" y="152146"/>
                </a:lnTo>
                <a:lnTo>
                  <a:pt x="228828" y="304419"/>
                </a:lnTo>
                <a:lnTo>
                  <a:pt x="0" y="30441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80221" y="1287856"/>
            <a:ext cx="280289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90497" y="3585464"/>
            <a:ext cx="8082915" cy="1126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74A40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74A40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59759"/>
            <a:ext cx="12192000" cy="198755"/>
          </a:xfrm>
          <a:custGeom>
            <a:avLst/>
            <a:gdLst/>
            <a:ahLst/>
            <a:cxnLst/>
            <a:rect l="l" t="t" r="r" b="b"/>
            <a:pathLst>
              <a:path w="12192000" h="198754">
                <a:moveTo>
                  <a:pt x="12192001" y="0"/>
                </a:moveTo>
                <a:lnTo>
                  <a:pt x="0" y="0"/>
                </a:lnTo>
                <a:lnTo>
                  <a:pt x="1" y="198240"/>
                </a:lnTo>
                <a:lnTo>
                  <a:pt x="12192001" y="198240"/>
                </a:lnTo>
                <a:lnTo>
                  <a:pt x="1219200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79" y="6676116"/>
            <a:ext cx="226809" cy="18188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6700" y="6661834"/>
            <a:ext cx="267931" cy="168262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785600" y="6473532"/>
            <a:ext cx="406400" cy="372110"/>
          </a:xfrm>
          <a:custGeom>
            <a:avLst/>
            <a:gdLst/>
            <a:ahLst/>
            <a:cxnLst/>
            <a:rect l="l" t="t" r="r" b="b"/>
            <a:pathLst>
              <a:path w="406400" h="372109">
                <a:moveTo>
                  <a:pt x="406400" y="0"/>
                </a:moveTo>
                <a:lnTo>
                  <a:pt x="0" y="185877"/>
                </a:lnTo>
                <a:lnTo>
                  <a:pt x="406400" y="371765"/>
                </a:lnTo>
                <a:lnTo>
                  <a:pt x="406400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"/>
            <a:ext cx="10058400" cy="56380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59759"/>
            <a:ext cx="12192000" cy="198755"/>
          </a:xfrm>
          <a:custGeom>
            <a:avLst/>
            <a:gdLst/>
            <a:ahLst/>
            <a:cxnLst/>
            <a:rect l="l" t="t" r="r" b="b"/>
            <a:pathLst>
              <a:path w="12192000" h="198754">
                <a:moveTo>
                  <a:pt x="12192001" y="0"/>
                </a:moveTo>
                <a:lnTo>
                  <a:pt x="0" y="0"/>
                </a:lnTo>
                <a:lnTo>
                  <a:pt x="1" y="198240"/>
                </a:lnTo>
                <a:lnTo>
                  <a:pt x="12192001" y="198240"/>
                </a:lnTo>
                <a:lnTo>
                  <a:pt x="1219200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479" y="6676116"/>
            <a:ext cx="226809" cy="18188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86700" y="6661834"/>
            <a:ext cx="267931" cy="168262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785600" y="6473532"/>
            <a:ext cx="406400" cy="372110"/>
          </a:xfrm>
          <a:custGeom>
            <a:avLst/>
            <a:gdLst/>
            <a:ahLst/>
            <a:cxnLst/>
            <a:rect l="l" t="t" r="r" b="b"/>
            <a:pathLst>
              <a:path w="406400" h="372109">
                <a:moveTo>
                  <a:pt x="406400" y="0"/>
                </a:moveTo>
                <a:lnTo>
                  <a:pt x="0" y="185877"/>
                </a:lnTo>
                <a:lnTo>
                  <a:pt x="406400" y="371765"/>
                </a:lnTo>
                <a:lnTo>
                  <a:pt x="406400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7852" y="419226"/>
            <a:ext cx="11296294" cy="942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5693" y="1765503"/>
            <a:ext cx="6109970" cy="4598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74A40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789414" y="6678574"/>
            <a:ext cx="15894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993371" y="6603822"/>
            <a:ext cx="14160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mailto:info@alkafeel.edu.iq" TargetMode="External"/><Relationship Id="rId4" Type="http://schemas.openxmlformats.org/officeDocument/2006/relationships/hyperlink" Target="https://alkafeel.edu.iq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alkafeel.edu.iq" TargetMode="External"/><Relationship Id="rId2" Type="http://schemas.openxmlformats.org/officeDocument/2006/relationships/hyperlink" Target="https://alkafeel.edu.iq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lkafeel.edu.iq/" TargetMode="External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Relationship Id="rId9" Type="http://schemas.openxmlformats.org/officeDocument/2006/relationships/hyperlink" Target="mailto:info@alkafeel.edu.iq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info@alkafeel.edu.iq" TargetMode="External"/><Relationship Id="rId4" Type="http://schemas.openxmlformats.org/officeDocument/2006/relationships/hyperlink" Target="https://alkafeel.edu.iq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info@alkafeel.edu.iq" TargetMode="External"/><Relationship Id="rId4" Type="http://schemas.openxmlformats.org/officeDocument/2006/relationships/hyperlink" Target="https://alkafeel.edu.iq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info@alkafeel.edu.iq" TargetMode="External"/><Relationship Id="rId5" Type="http://schemas.openxmlformats.org/officeDocument/2006/relationships/hyperlink" Target="https://alkafeel.edu.iq/" TargetMode="External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5" Type="http://schemas.openxmlformats.org/officeDocument/2006/relationships/hyperlink" Target="mailto:info@alkafeel.edu.iq" TargetMode="External"/><Relationship Id="rId4" Type="http://schemas.openxmlformats.org/officeDocument/2006/relationships/hyperlink" Target="https://alkafeel.edu.iq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alkafeel.edu.iq" TargetMode="External"/><Relationship Id="rId2" Type="http://schemas.openxmlformats.org/officeDocument/2006/relationships/hyperlink" Target="https://alkafeel.edu.iq/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mailto:info@alkafeel.edu.iq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lkafeel.edu.iq/" TargetMode="External"/><Relationship Id="rId5" Type="http://schemas.openxmlformats.org/officeDocument/2006/relationships/image" Target="../media/image22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59759"/>
            <a:ext cx="12192000" cy="198755"/>
            <a:chOff x="0" y="6659759"/>
            <a:chExt cx="12192000" cy="198755"/>
          </a:xfrm>
        </p:grpSpPr>
        <p:sp>
          <p:nvSpPr>
            <p:cNvPr id="3" name="object 3"/>
            <p:cNvSpPr/>
            <p:nvPr/>
          </p:nvSpPr>
          <p:spPr>
            <a:xfrm>
              <a:off x="0" y="6659759"/>
              <a:ext cx="12192000" cy="198755"/>
            </a:xfrm>
            <a:custGeom>
              <a:avLst/>
              <a:gdLst/>
              <a:ahLst/>
              <a:cxnLst/>
              <a:rect l="l" t="t" r="r" b="b"/>
              <a:pathLst>
                <a:path w="12192000" h="198754">
                  <a:moveTo>
                    <a:pt x="12192001" y="0"/>
                  </a:moveTo>
                  <a:lnTo>
                    <a:pt x="0" y="0"/>
                  </a:lnTo>
                  <a:lnTo>
                    <a:pt x="1" y="198240"/>
                  </a:lnTo>
                  <a:lnTo>
                    <a:pt x="12192001" y="198240"/>
                  </a:lnTo>
                  <a:lnTo>
                    <a:pt x="1219200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79" y="6676116"/>
              <a:ext cx="226809" cy="1818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6700" y="6661834"/>
              <a:ext cx="267931" cy="16826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81736" y="6674916"/>
            <a:ext cx="8699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4"/>
              </a:rPr>
              <a:t>alkafeel.edu.iq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6605" y="6683450"/>
            <a:ext cx="11442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5"/>
              </a:rPr>
              <a:t>info@alkafeel.edu.i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85600" y="6473532"/>
            <a:ext cx="406400" cy="372110"/>
          </a:xfrm>
          <a:custGeom>
            <a:avLst/>
            <a:gdLst/>
            <a:ahLst/>
            <a:cxnLst/>
            <a:rect l="l" t="t" r="r" b="b"/>
            <a:pathLst>
              <a:path w="406400" h="372109">
                <a:moveTo>
                  <a:pt x="406400" y="0"/>
                </a:moveTo>
                <a:lnTo>
                  <a:pt x="0" y="185877"/>
                </a:lnTo>
                <a:lnTo>
                  <a:pt x="406400" y="371765"/>
                </a:lnTo>
                <a:lnTo>
                  <a:pt x="406400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18" y="152400"/>
            <a:ext cx="7235982" cy="565708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022328" y="6575247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958847" y="1722613"/>
            <a:ext cx="6553199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263775" algn="l"/>
              </a:tabLst>
            </a:pPr>
            <a:r>
              <a:rPr lang="en-US" dirty="0">
                <a:solidFill>
                  <a:srgbClr val="C00000"/>
                </a:solidFill>
                <a:latin typeface="Times New Roman"/>
                <a:cs typeface="Times New Roman"/>
              </a:rPr>
              <a:t>Medical Microbiology</a:t>
            </a:r>
            <a:r>
              <a:rPr lang="en-US" sz="3600" dirty="0">
                <a:solidFill>
                  <a:srgbClr val="C00000"/>
                </a:solidFill>
                <a:latin typeface="Times New Roman"/>
                <a:cs typeface="Times New Roman"/>
              </a:rPr>
              <a:t/>
            </a:r>
            <a:br>
              <a:rPr lang="en-US" sz="3600" dirty="0">
                <a:solidFill>
                  <a:srgbClr val="C00000"/>
                </a:solidFill>
                <a:latin typeface="Times New Roman"/>
                <a:cs typeface="Times New Roman"/>
              </a:rPr>
            </a:br>
            <a:r>
              <a:rPr lang="en-US" sz="2800" dirty="0">
                <a:solidFill>
                  <a:schemeClr val="tx2"/>
                </a:solidFill>
                <a:latin typeface="Times New Roman"/>
                <a:cs typeface="Times New Roman"/>
              </a:rPr>
              <a:t>Third stage- College of Dentistry</a:t>
            </a:r>
            <a:r>
              <a:rPr lang="en-US" sz="4800" dirty="0">
                <a:solidFill>
                  <a:schemeClr val="tx2"/>
                </a:solidFill>
                <a:latin typeface="Times New Roman"/>
                <a:cs typeface="Times New Roman"/>
              </a:rPr>
              <a:t/>
            </a:r>
            <a:br>
              <a:rPr lang="en-US" sz="4800" dirty="0">
                <a:solidFill>
                  <a:schemeClr val="tx2"/>
                </a:solidFill>
                <a:latin typeface="Times New Roman"/>
                <a:cs typeface="Times New Roman"/>
              </a:rPr>
            </a:br>
            <a:endParaRPr sz="48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7847" y="4161215"/>
            <a:ext cx="7315200" cy="1518363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R="79375" algn="ctr">
              <a:lnSpc>
                <a:spcPct val="100000"/>
              </a:lnSpc>
              <a:spcBef>
                <a:spcPts val="919"/>
              </a:spcBef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Palatino Linotype"/>
                <a:cs typeface="Palatino Linotype"/>
              </a:rPr>
              <a:t>Prepared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  <a:latin typeface="Palatino Linotype"/>
                <a:cs typeface="Palatino Linotype"/>
              </a:rPr>
              <a:t>by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Palatino Linotype"/>
              <a:cs typeface="Palatino Linotype"/>
            </a:endParaRPr>
          </a:p>
          <a:p>
            <a:pPr marR="79375" algn="ctr">
              <a:lnSpc>
                <a:spcPct val="100000"/>
              </a:lnSpc>
              <a:spcBef>
                <a:spcPts val="919"/>
              </a:spcBef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Palatino Linotype"/>
                <a:cs typeface="Palatino Linotype"/>
              </a:rPr>
              <a:t>PhD Dheyaa </a:t>
            </a:r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Palatino Linotype"/>
                <a:cs typeface="Palatino Linotype"/>
              </a:rPr>
              <a:t>Naji Hamza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Palatino Linotype"/>
              <a:cs typeface="Palatino Linotype"/>
            </a:endParaRPr>
          </a:p>
          <a:p>
            <a:pPr marR="79375" algn="ctr">
              <a:lnSpc>
                <a:spcPct val="100000"/>
              </a:lnSpc>
              <a:spcBef>
                <a:spcPts val="919"/>
              </a:spcBef>
            </a:pPr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Palatino Linotype"/>
                <a:cs typeface="Palatino Linotype"/>
              </a:rPr>
              <a:t>      M.Sc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Palatino Linotype"/>
                <a:cs typeface="Palatino Linotype"/>
              </a:rPr>
              <a:t>. Zainab Majid</a:t>
            </a:r>
            <a:r>
              <a:rPr lang="ar-IQ" sz="2400" b="1" dirty="0">
                <a:solidFill>
                  <a:schemeClr val="tx2">
                    <a:lumMod val="75000"/>
                  </a:schemeClr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1B3A7E"/>
                </a:solidFill>
                <a:latin typeface="Palatino Linotype"/>
                <a:cs typeface="Palatino Linotype"/>
              </a:rPr>
              <a:t>Mohammed</a:t>
            </a:r>
            <a:endParaRPr sz="2000" dirty="0">
              <a:latin typeface="Palatino Linotype"/>
              <a:cs typeface="Palatino Linotype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9A523D4-CF0E-538B-9566-119C6E39B472}"/>
              </a:ext>
            </a:extLst>
          </p:cNvPr>
          <p:cNvSpPr txBox="1"/>
          <p:nvPr/>
        </p:nvSpPr>
        <p:spPr>
          <a:xfrm>
            <a:off x="6324600" y="2819400"/>
            <a:ext cx="336449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spc="-10" dirty="0" smtClean="0">
                <a:solidFill>
                  <a:srgbClr val="C00000"/>
                </a:solidFill>
                <a:latin typeface="Calibri"/>
                <a:ea typeface="+mj-ea"/>
                <a:cs typeface="Calibri"/>
              </a:rPr>
              <a:t>The </a:t>
            </a:r>
            <a:r>
              <a:rPr lang="en-US" sz="3600" b="1" spc="-10" dirty="0">
                <a:solidFill>
                  <a:srgbClr val="C00000"/>
                </a:solidFill>
                <a:latin typeface="Calibri"/>
                <a:ea typeface="+mj-ea"/>
                <a:cs typeface="Calibri"/>
              </a:rPr>
              <a:t>Microscope</a:t>
            </a:r>
          </a:p>
          <a:p>
            <a:pPr lvl="0" algn="ctr"/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1B3A7E"/>
                </a:solidFill>
                <a:effectLst/>
                <a:uLnTx/>
                <a:uFillTx/>
                <a:latin typeface="Palatino Linotype"/>
                <a:cs typeface="Palatino Linotype"/>
              </a:rPr>
              <a:t>Leb.</a:t>
            </a:r>
            <a:r>
              <a:rPr kumimoji="0" lang="en-US" sz="3200" b="1" i="0" u="none" strike="noStrike" kern="0" cap="none" spc="-15" normalizeH="0" baseline="0" noProof="0" dirty="0" smtClean="0">
                <a:ln>
                  <a:noFill/>
                </a:ln>
                <a:solidFill>
                  <a:srgbClr val="1B3A7E"/>
                </a:solidFill>
                <a:effectLst/>
                <a:uLnTx/>
                <a:uFillTx/>
                <a:latin typeface="Palatino Linotype"/>
                <a:cs typeface="Palatino Linotype"/>
              </a:rPr>
              <a:t> </a:t>
            </a:r>
            <a:r>
              <a:rPr kumimoji="0" lang="en-US" sz="3200" b="1" i="0" u="none" strike="noStrike" kern="0" cap="none" spc="-50" normalizeH="0" baseline="0" noProof="0" dirty="0" smtClean="0">
                <a:ln>
                  <a:noFill/>
                </a:ln>
                <a:solidFill>
                  <a:srgbClr val="1B3A7E"/>
                </a:solidFill>
                <a:effectLst/>
                <a:uLnTx/>
                <a:uFillTx/>
                <a:latin typeface="Palatino Linotype"/>
                <a:cs typeface="Palatino Linotype"/>
              </a:rPr>
              <a:t>2</a:t>
            </a:r>
          </a:p>
          <a:p>
            <a:pPr algn="ctr"/>
            <a:endParaRPr lang="ar-IQ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DE5643F-E4DC-21DA-AF23-3C194A12A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219200"/>
            <a:ext cx="9448800" cy="2769989"/>
          </a:xfrm>
        </p:spPr>
        <p:txBody>
          <a:bodyPr/>
          <a:lstStyle/>
          <a:p>
            <a:r>
              <a:rPr lang="en-US" sz="3600" dirty="0" smtClean="0">
                <a:solidFill>
                  <a:srgbClr val="C00000"/>
                </a:solidFill>
              </a:rPr>
              <a:t>    Learning </a:t>
            </a:r>
            <a:r>
              <a:rPr lang="en-US" sz="3600" dirty="0">
                <a:solidFill>
                  <a:srgbClr val="C00000"/>
                </a:solidFill>
              </a:rPr>
              <a:t>Objectives</a:t>
            </a:r>
          </a:p>
          <a:p>
            <a:pPr marL="571500" indent="-571500">
              <a:buFont typeface="Wingdings" pitchFamily="2" charset="2"/>
              <a:buChar char="v"/>
            </a:pPr>
            <a:r>
              <a:rPr lang="en-US" sz="3600" dirty="0" smtClean="0">
                <a:solidFill>
                  <a:srgbClr val="002060"/>
                </a:solidFill>
                <a:latin typeface="+mn-lt"/>
              </a:rPr>
              <a:t>Identify </a:t>
            </a:r>
            <a:r>
              <a:rPr lang="en-US" sz="3600" dirty="0">
                <a:solidFill>
                  <a:srgbClr val="002060"/>
                </a:solidFill>
                <a:latin typeface="+mn-lt"/>
              </a:rPr>
              <a:t>different types of microscopes.</a:t>
            </a:r>
          </a:p>
          <a:p>
            <a:pPr marL="571500" indent="-571500">
              <a:buFont typeface="Wingdings" pitchFamily="2" charset="2"/>
              <a:buChar char="v"/>
            </a:pPr>
            <a:r>
              <a:rPr lang="en-US" sz="3600" dirty="0" smtClean="0">
                <a:solidFill>
                  <a:srgbClr val="002060"/>
                </a:solidFill>
                <a:latin typeface="+mn-lt"/>
              </a:rPr>
              <a:t>Describe </a:t>
            </a:r>
            <a:r>
              <a:rPr lang="en-US" sz="3600" dirty="0">
                <a:solidFill>
                  <a:srgbClr val="002060"/>
                </a:solidFill>
                <a:latin typeface="+mn-lt"/>
              </a:rPr>
              <a:t>the components of a light microscope.</a:t>
            </a:r>
          </a:p>
          <a:p>
            <a:pPr marL="571500" indent="-571500">
              <a:buFont typeface="Wingdings" pitchFamily="2" charset="2"/>
              <a:buChar char="v"/>
            </a:pPr>
            <a:r>
              <a:rPr lang="en-US" sz="3600" dirty="0" smtClean="0">
                <a:solidFill>
                  <a:srgbClr val="002060"/>
                </a:solidFill>
                <a:latin typeface="+mn-lt"/>
              </a:rPr>
              <a:t>Demonstrate proper </a:t>
            </a:r>
            <a:r>
              <a:rPr lang="en-US" sz="3600" dirty="0">
                <a:solidFill>
                  <a:srgbClr val="002060"/>
                </a:solidFill>
                <a:latin typeface="+mn-lt"/>
              </a:rPr>
              <a:t>use of a </a:t>
            </a:r>
            <a:r>
              <a:rPr lang="en-US" sz="3600" dirty="0" smtClean="0">
                <a:solidFill>
                  <a:srgbClr val="002060"/>
                </a:solidFill>
                <a:latin typeface="+mn-lt"/>
              </a:rPr>
              <a:t>microscope</a:t>
            </a:r>
            <a:r>
              <a:rPr lang="en-US" sz="3600" dirty="0">
                <a:solidFill>
                  <a:srgbClr val="002060"/>
                </a:solidFill>
                <a:latin typeface="+mn-lt"/>
              </a:rPr>
              <a:t>.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="" xmlns:a16="http://schemas.microsoft.com/office/drawing/2014/main" id="{18646394-561F-BD56-99A7-017A2FB4286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0" y="76200"/>
            <a:ext cx="7848600" cy="684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41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457201"/>
            <a:ext cx="4876800" cy="5940178"/>
          </a:xfrm>
          <a:prstGeom prst="rect">
            <a:avLst/>
          </a:prstGeom>
        </p:spPr>
      </p:pic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228600" y="457201"/>
            <a:ext cx="7239000" cy="4985980"/>
          </a:xfrm>
        </p:spPr>
        <p:txBody>
          <a:bodyPr/>
          <a:lstStyle/>
          <a:p>
            <a:pPr algn="l"/>
            <a:r>
              <a:rPr lang="en-US" sz="3600" dirty="0" smtClean="0">
                <a:solidFill>
                  <a:srgbClr val="C00000"/>
                </a:solidFill>
              </a:rPr>
              <a:t>The Microscope:-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en-US" sz="3600" dirty="0" smtClean="0">
                <a:solidFill>
                  <a:srgbClr val="002060"/>
                </a:solidFill>
                <a:latin typeface="+mn-lt"/>
              </a:rPr>
              <a:t>Microscope: </a:t>
            </a:r>
          </a:p>
          <a:p>
            <a:r>
              <a:rPr lang="en-US" sz="3600" dirty="0" smtClean="0">
                <a:solidFill>
                  <a:srgbClr val="002060"/>
                </a:solidFill>
                <a:latin typeface="+mn-lt"/>
              </a:rPr>
              <a:t>is </a:t>
            </a:r>
            <a:r>
              <a:rPr lang="en-US" sz="3600" dirty="0">
                <a:solidFill>
                  <a:srgbClr val="002060"/>
                </a:solidFill>
                <a:latin typeface="+mn-lt"/>
              </a:rPr>
              <a:t>an instrument used to observe objects that are too small to be seen with the naked eye.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3600" dirty="0" smtClean="0">
                <a:solidFill>
                  <a:srgbClr val="002060"/>
                </a:solidFill>
                <a:latin typeface="+mn-lt"/>
              </a:rPr>
              <a:t>Microscopic:</a:t>
            </a:r>
            <a:endParaRPr lang="en-US" sz="3600" dirty="0">
              <a:solidFill>
                <a:srgbClr val="002060"/>
              </a:solidFill>
              <a:latin typeface="+mn-lt"/>
            </a:endParaRPr>
          </a:p>
          <a:p>
            <a:r>
              <a:rPr lang="en-US" sz="3600" dirty="0" smtClean="0">
                <a:solidFill>
                  <a:srgbClr val="002060"/>
                </a:solidFill>
                <a:latin typeface="+mn-lt"/>
              </a:rPr>
              <a:t>The </a:t>
            </a:r>
            <a:r>
              <a:rPr lang="en-US" sz="3600" dirty="0">
                <a:solidFill>
                  <a:srgbClr val="002060"/>
                </a:solidFill>
                <a:latin typeface="+mn-lt"/>
              </a:rPr>
              <a:t>word comes from “micro”, meaning </a:t>
            </a:r>
            <a:r>
              <a:rPr lang="en-US" sz="3600" i="1" dirty="0">
                <a:solidFill>
                  <a:srgbClr val="002060"/>
                </a:solidFill>
                <a:latin typeface="+mn-lt"/>
              </a:rPr>
              <a:t>very small</a:t>
            </a:r>
            <a:r>
              <a:rPr lang="en-US" sz="3600" dirty="0">
                <a:solidFill>
                  <a:srgbClr val="002060"/>
                </a:solidFill>
                <a:latin typeface="+mn-lt"/>
              </a:rPr>
              <a:t>, and “scope”, meaning </a:t>
            </a:r>
            <a:r>
              <a:rPr lang="en-US" sz="3600" i="1" dirty="0">
                <a:solidFill>
                  <a:srgbClr val="002060"/>
                </a:solidFill>
                <a:latin typeface="+mn-lt"/>
              </a:rPr>
              <a:t>to look at</a:t>
            </a:r>
            <a:r>
              <a:rPr lang="en-US" sz="3600" dirty="0">
                <a:solidFill>
                  <a:srgbClr val="002060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0409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81736" y="6664307"/>
            <a:ext cx="86995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2"/>
              </a:rPr>
              <a:t>alkafeel.edu.iq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6605" y="6672843"/>
            <a:ext cx="114427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3"/>
              </a:rPr>
              <a:t>info@alkafeel.edu.i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736" y="102657"/>
            <a:ext cx="10233864" cy="6306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SzPct val="97916"/>
              <a:tabLst>
                <a:tab pos="326390" algn="l"/>
              </a:tabLst>
            </a:pPr>
            <a:r>
              <a:rPr lang="en-US" sz="3200" b="1" dirty="0" smtClean="0">
                <a:solidFill>
                  <a:srgbClr val="C00000"/>
                </a:solidFill>
              </a:rPr>
              <a:t>There</a:t>
            </a:r>
            <a:r>
              <a:rPr lang="en-US" sz="3200" b="1" spc="-50" dirty="0" smtClean="0">
                <a:solidFill>
                  <a:srgbClr val="C00000"/>
                </a:solidFill>
              </a:rPr>
              <a:t> </a:t>
            </a:r>
            <a:r>
              <a:rPr lang="en-US" sz="3200" b="1" dirty="0" smtClean="0">
                <a:solidFill>
                  <a:srgbClr val="C00000"/>
                </a:solidFill>
              </a:rPr>
              <a:t>are</a:t>
            </a:r>
            <a:r>
              <a:rPr lang="en-US" sz="3200" b="1" spc="-60" dirty="0" smtClean="0">
                <a:solidFill>
                  <a:srgbClr val="C00000"/>
                </a:solidFill>
              </a:rPr>
              <a:t> </a:t>
            </a:r>
            <a:r>
              <a:rPr lang="en-US" sz="3200" b="1" spc="-10" dirty="0" smtClean="0">
                <a:solidFill>
                  <a:srgbClr val="C00000"/>
                </a:solidFill>
              </a:rPr>
              <a:t>several</a:t>
            </a:r>
            <a:r>
              <a:rPr lang="en-US" sz="3200" b="1" spc="-55" dirty="0" smtClean="0">
                <a:solidFill>
                  <a:srgbClr val="C00000"/>
                </a:solidFill>
              </a:rPr>
              <a:t> </a:t>
            </a:r>
            <a:r>
              <a:rPr lang="en-US" sz="3200" b="1" dirty="0" smtClean="0">
                <a:solidFill>
                  <a:srgbClr val="C00000"/>
                </a:solidFill>
              </a:rPr>
              <a:t>types</a:t>
            </a:r>
            <a:r>
              <a:rPr lang="en-US" sz="3200" b="1" spc="-80" dirty="0" smtClean="0">
                <a:solidFill>
                  <a:srgbClr val="C00000"/>
                </a:solidFill>
              </a:rPr>
              <a:t> </a:t>
            </a:r>
            <a:r>
              <a:rPr lang="en-US" sz="3200" b="1" dirty="0" smtClean="0">
                <a:solidFill>
                  <a:srgbClr val="C00000"/>
                </a:solidFill>
              </a:rPr>
              <a:t>of</a:t>
            </a:r>
            <a:r>
              <a:rPr lang="en-US" sz="3200" b="1" spc="-60" dirty="0" smtClean="0">
                <a:solidFill>
                  <a:srgbClr val="C00000"/>
                </a:solidFill>
              </a:rPr>
              <a:t> </a:t>
            </a:r>
            <a:r>
              <a:rPr lang="en-US" sz="3200" b="1" dirty="0" smtClean="0">
                <a:solidFill>
                  <a:srgbClr val="C00000"/>
                </a:solidFill>
              </a:rPr>
              <a:t>microscope:</a:t>
            </a:r>
            <a:endParaRPr lang="ar-IQ" sz="3200" b="1" dirty="0">
              <a:solidFill>
                <a:srgbClr val="C00000"/>
              </a:solidFill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SzPct val="97916"/>
              <a:tabLst>
                <a:tab pos="326390" algn="l"/>
              </a:tabLst>
            </a:pPr>
            <a:r>
              <a:rPr lang="en-US" sz="3200" b="1" dirty="0" smtClean="0">
                <a:solidFill>
                  <a:srgbClr val="C00000"/>
                </a:solidFill>
                <a:latin typeface="Calibri"/>
                <a:cs typeface="Calibri"/>
              </a:rPr>
              <a:t>1-</a:t>
            </a:r>
            <a:r>
              <a:rPr sz="3200" b="1" dirty="0" smtClean="0">
                <a:solidFill>
                  <a:srgbClr val="C00000"/>
                </a:solidFill>
                <a:latin typeface="Calibri"/>
                <a:cs typeface="Calibri"/>
              </a:rPr>
              <a:t>Electron</a:t>
            </a:r>
            <a:r>
              <a:rPr sz="3200" b="1" spc="-85" dirty="0" smtClean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0" dirty="0" smtClean="0">
                <a:solidFill>
                  <a:srgbClr val="C00000"/>
                </a:solidFill>
                <a:latin typeface="Calibri"/>
                <a:cs typeface="Calibri"/>
              </a:rPr>
              <a:t>Microscope</a:t>
            </a:r>
            <a:r>
              <a:rPr lang="ar-IQ" sz="3200" b="1" spc="-10" dirty="0" smtClean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32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002060"/>
                </a:solidFill>
                <a:latin typeface="Calibri"/>
                <a:cs typeface="Calibri"/>
              </a:rPr>
              <a:t>A-Transmission</a:t>
            </a:r>
            <a:r>
              <a:rPr sz="3200" b="1" spc="-9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2060"/>
                </a:solidFill>
                <a:latin typeface="Calibri"/>
                <a:cs typeface="Calibri"/>
              </a:rPr>
              <a:t>Electron</a:t>
            </a:r>
            <a:r>
              <a:rPr sz="3200" b="1" spc="-8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2060"/>
                </a:solidFill>
                <a:latin typeface="Calibri"/>
                <a:cs typeface="Calibri"/>
              </a:rPr>
              <a:t>Microscope</a:t>
            </a:r>
            <a:r>
              <a:rPr sz="3200" b="1" spc="-10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2060"/>
                </a:solidFill>
                <a:latin typeface="Calibri"/>
                <a:cs typeface="Calibri"/>
              </a:rPr>
              <a:t>(</a:t>
            </a:r>
            <a:r>
              <a:rPr sz="32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TEM</a:t>
            </a:r>
            <a:r>
              <a:rPr lang="ar-IQ" sz="32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(</a:t>
            </a:r>
            <a:endParaRPr sz="320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spc="-25" dirty="0">
                <a:solidFill>
                  <a:srgbClr val="002060"/>
                </a:solidFill>
                <a:latin typeface="Calibri"/>
                <a:cs typeface="Calibri"/>
              </a:rPr>
              <a:t>B-</a:t>
            </a:r>
            <a:r>
              <a:rPr sz="3200" b="1" dirty="0">
                <a:solidFill>
                  <a:srgbClr val="002060"/>
                </a:solidFill>
                <a:latin typeface="Calibri"/>
                <a:cs typeface="Calibri"/>
              </a:rPr>
              <a:t>Scanning</a:t>
            </a:r>
            <a:r>
              <a:rPr sz="3200" b="1" spc="-7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2060"/>
                </a:solidFill>
                <a:latin typeface="Calibri"/>
                <a:cs typeface="Calibri"/>
              </a:rPr>
              <a:t>Electron</a:t>
            </a:r>
            <a:r>
              <a:rPr sz="3200" b="1" spc="-6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2060"/>
                </a:solidFill>
                <a:latin typeface="Calibri"/>
                <a:cs typeface="Calibri"/>
              </a:rPr>
              <a:t>Microscope</a:t>
            </a:r>
            <a:r>
              <a:rPr sz="3200" b="1" spc="-8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2060"/>
                </a:solidFill>
                <a:latin typeface="Calibri"/>
                <a:cs typeface="Calibri"/>
              </a:rPr>
              <a:t>(</a:t>
            </a:r>
            <a:r>
              <a:rPr sz="32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SEM</a:t>
            </a:r>
            <a:r>
              <a:rPr lang="ar-IQ" sz="32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(</a:t>
            </a:r>
          </a:p>
          <a:p>
            <a:pPr marL="12700">
              <a:lnSpc>
                <a:spcPct val="100000"/>
              </a:lnSpc>
            </a:pPr>
            <a:endParaRPr lang="ar-IQ"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3200" b="1" dirty="0" smtClean="0">
                <a:solidFill>
                  <a:srgbClr val="C00000"/>
                </a:solidFill>
                <a:latin typeface="Calibri"/>
                <a:cs typeface="Calibri"/>
              </a:rPr>
              <a:t>2-</a:t>
            </a:r>
            <a:r>
              <a:rPr sz="3200" b="1" dirty="0" smtClean="0">
                <a:solidFill>
                  <a:srgbClr val="C00000"/>
                </a:solidFill>
                <a:latin typeface="Calibri"/>
                <a:cs typeface="Calibri"/>
              </a:rPr>
              <a:t>Fluorescence</a:t>
            </a:r>
            <a:r>
              <a:rPr sz="3200" b="1" spc="-105" dirty="0" smtClean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0" dirty="0" smtClean="0">
                <a:solidFill>
                  <a:srgbClr val="C00000"/>
                </a:solidFill>
                <a:latin typeface="Calibri"/>
                <a:cs typeface="Calibri"/>
              </a:rPr>
              <a:t>Microscope</a:t>
            </a:r>
            <a:r>
              <a:rPr lang="ar-IQ" sz="3200" b="1" spc="-10" dirty="0" smtClean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32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3175">
              <a:lnSpc>
                <a:spcPct val="100000"/>
              </a:lnSpc>
              <a:spcBef>
                <a:spcPts val="5"/>
              </a:spcBef>
              <a:buSzPct val="97916"/>
              <a:tabLst>
                <a:tab pos="258445" algn="l"/>
              </a:tabLst>
            </a:pPr>
            <a:r>
              <a:rPr lang="en-US" sz="3200" b="1" dirty="0" smtClean="0">
                <a:solidFill>
                  <a:srgbClr val="002060"/>
                </a:solidFill>
                <a:latin typeface="Calibri"/>
                <a:cs typeface="Calibri"/>
              </a:rPr>
              <a:t>A-</a:t>
            </a:r>
            <a:r>
              <a:rPr sz="3200" b="1" dirty="0" smtClean="0">
                <a:solidFill>
                  <a:srgbClr val="002060"/>
                </a:solidFill>
                <a:latin typeface="Calibri"/>
                <a:cs typeface="Calibri"/>
              </a:rPr>
              <a:t>Confocal</a:t>
            </a:r>
            <a:r>
              <a:rPr sz="3200" b="1" spc="-90" dirty="0" smtClean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2060"/>
                </a:solidFill>
                <a:latin typeface="Calibri"/>
                <a:cs typeface="Calibri"/>
              </a:rPr>
              <a:t>Microscope</a:t>
            </a:r>
            <a:endParaRPr sz="320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3175">
              <a:lnSpc>
                <a:spcPct val="100000"/>
              </a:lnSpc>
              <a:buSzPct val="97916"/>
              <a:tabLst>
                <a:tab pos="259079" algn="l"/>
              </a:tabLst>
            </a:pPr>
            <a:r>
              <a:rPr lang="en-US" sz="3200" b="1" dirty="0" smtClean="0">
                <a:solidFill>
                  <a:srgbClr val="002060"/>
                </a:solidFill>
                <a:latin typeface="Calibri"/>
                <a:cs typeface="Calibri"/>
              </a:rPr>
              <a:t>B-</a:t>
            </a:r>
            <a:r>
              <a:rPr sz="3200" b="1" dirty="0" smtClean="0">
                <a:solidFill>
                  <a:srgbClr val="002060"/>
                </a:solidFill>
                <a:latin typeface="Calibri"/>
                <a:cs typeface="Calibri"/>
              </a:rPr>
              <a:t>Atomic</a:t>
            </a:r>
            <a:r>
              <a:rPr sz="3200" b="1" spc="-105" dirty="0" smtClean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2060"/>
                </a:solidFill>
                <a:latin typeface="Calibri"/>
                <a:cs typeface="Calibri"/>
              </a:rPr>
              <a:t>Force</a:t>
            </a:r>
            <a:r>
              <a:rPr sz="3200" b="1" spc="-114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2060"/>
                </a:solidFill>
                <a:latin typeface="Calibri"/>
                <a:cs typeface="Calibri"/>
              </a:rPr>
              <a:t>Microscope</a:t>
            </a:r>
            <a:r>
              <a:rPr sz="3200" b="1" spc="-12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2060"/>
                </a:solidFill>
                <a:latin typeface="Calibri"/>
                <a:cs typeface="Calibri"/>
              </a:rPr>
              <a:t>(</a:t>
            </a:r>
            <a:r>
              <a:rPr sz="32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AFM</a:t>
            </a:r>
            <a:r>
              <a:rPr lang="ar-IQ" sz="32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(</a:t>
            </a:r>
            <a:endParaRPr sz="320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3175">
              <a:lnSpc>
                <a:spcPct val="100000"/>
              </a:lnSpc>
              <a:buSzPct val="97916"/>
              <a:tabLst>
                <a:tab pos="259079" algn="l"/>
              </a:tabLst>
            </a:pPr>
            <a:r>
              <a:rPr lang="en-US" sz="3200" b="1" dirty="0" smtClean="0">
                <a:solidFill>
                  <a:srgbClr val="002060"/>
                </a:solidFill>
                <a:latin typeface="Calibri"/>
                <a:cs typeface="Calibri"/>
              </a:rPr>
              <a:t>C-</a:t>
            </a:r>
            <a:r>
              <a:rPr sz="3200" b="1" dirty="0" smtClean="0">
                <a:solidFill>
                  <a:srgbClr val="002060"/>
                </a:solidFill>
                <a:latin typeface="Calibri"/>
                <a:cs typeface="Calibri"/>
              </a:rPr>
              <a:t>Digital</a:t>
            </a:r>
            <a:r>
              <a:rPr sz="3200" b="1" spc="-95" dirty="0" smtClean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2060"/>
                </a:solidFill>
                <a:latin typeface="Calibri"/>
                <a:cs typeface="Calibri"/>
              </a:rPr>
              <a:t>Microscope</a:t>
            </a:r>
            <a:endParaRPr sz="320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3175">
              <a:lnSpc>
                <a:spcPct val="100000"/>
              </a:lnSpc>
              <a:spcBef>
                <a:spcPts val="2880"/>
              </a:spcBef>
              <a:buSzPct val="97916"/>
              <a:tabLst>
                <a:tab pos="259079" algn="l"/>
              </a:tabLst>
            </a:pPr>
            <a:r>
              <a:rPr lang="en-US" sz="3200" b="1" dirty="0" smtClean="0">
                <a:solidFill>
                  <a:srgbClr val="C00000"/>
                </a:solidFill>
                <a:latin typeface="Calibri"/>
                <a:cs typeface="Calibri"/>
              </a:rPr>
              <a:t>3-</a:t>
            </a:r>
            <a:r>
              <a:rPr sz="3200" b="1" dirty="0" smtClean="0">
                <a:solidFill>
                  <a:srgbClr val="C00000"/>
                </a:solidFill>
                <a:latin typeface="Calibri"/>
                <a:cs typeface="Calibri"/>
              </a:rPr>
              <a:t>Light</a:t>
            </a:r>
            <a:r>
              <a:rPr sz="3200" b="1" spc="-35" dirty="0" smtClean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0" dirty="0" smtClean="0">
                <a:solidFill>
                  <a:srgbClr val="C00000"/>
                </a:solidFill>
                <a:latin typeface="Calibri"/>
                <a:cs typeface="Calibri"/>
              </a:rPr>
              <a:t>Microscope</a:t>
            </a:r>
            <a:r>
              <a:rPr lang="ar-IQ" sz="3200" b="1" spc="-10" dirty="0" smtClean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32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002060"/>
                </a:solidFill>
                <a:latin typeface="Calibri"/>
                <a:cs typeface="Calibri"/>
              </a:rPr>
              <a:t>A-</a:t>
            </a:r>
            <a:r>
              <a:rPr sz="3200" b="1" spc="-3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2060"/>
                </a:solidFill>
                <a:latin typeface="Calibri"/>
                <a:cs typeface="Calibri"/>
              </a:rPr>
              <a:t>Compound</a:t>
            </a:r>
            <a:r>
              <a:rPr sz="3200" b="1" spc="-4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Microscope</a:t>
            </a:r>
            <a:endParaRPr lang="ar-IQ" sz="3200" b="1" spc="-10" dirty="0" smtClean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2060"/>
                </a:solidFill>
                <a:latin typeface="Calibri"/>
                <a:cs typeface="Calibri"/>
              </a:rPr>
              <a:t>B-</a:t>
            </a:r>
            <a:r>
              <a:rPr sz="3200" b="1" spc="-25" dirty="0" smtClean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Stereo</a:t>
            </a:r>
            <a:r>
              <a:rPr lang="ar-IQ" sz="32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32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microscope</a:t>
            </a:r>
            <a:r>
              <a:rPr lang="ar-IQ" sz="32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            </a:t>
            </a:r>
            <a:r>
              <a:rPr lang="ar-IQ" sz="2800" b="1" spc="-10" dirty="0" smtClean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endParaRPr sz="2800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pic>
        <p:nvPicPr>
          <p:cNvPr id="9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34300" y="3108310"/>
            <a:ext cx="3554666" cy="33471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0225" y="165988"/>
            <a:ext cx="7764334" cy="2948813"/>
            <a:chOff x="1002982" y="282066"/>
            <a:chExt cx="7764334" cy="2948813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2982" y="404875"/>
              <a:ext cx="2971037" cy="28260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1079" y="282066"/>
              <a:ext cx="3936237" cy="294881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05400" y="3114800"/>
            <a:ext cx="3067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Confocal</a:t>
            </a:r>
            <a:r>
              <a:rPr sz="2400" spc="-120" dirty="0"/>
              <a:t> </a:t>
            </a:r>
            <a:r>
              <a:rPr sz="2400" spc="-10" dirty="0"/>
              <a:t>Microscope</a:t>
            </a:r>
            <a:endParaRPr sz="2400" dirty="0"/>
          </a:p>
        </p:txBody>
      </p:sp>
      <p:sp>
        <p:nvSpPr>
          <p:cNvPr id="7" name="object 7"/>
          <p:cNvSpPr txBox="1"/>
          <p:nvPr/>
        </p:nvSpPr>
        <p:spPr>
          <a:xfrm>
            <a:off x="791400" y="3181412"/>
            <a:ext cx="26803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Fluorescence</a:t>
            </a:r>
            <a:r>
              <a:rPr sz="2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Microscope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41291" y="155480"/>
            <a:ext cx="7693025" cy="6152883"/>
            <a:chOff x="4241291" y="165988"/>
            <a:chExt cx="7693025" cy="63226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65920" y="165988"/>
              <a:ext cx="2668397" cy="318084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41291" y="3749764"/>
              <a:ext cx="3855719" cy="273875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613457" y="3347603"/>
            <a:ext cx="3375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tomic</a:t>
            </a:r>
            <a:r>
              <a:rPr sz="20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Force</a:t>
            </a:r>
            <a:r>
              <a:rPr sz="20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Microscope</a:t>
            </a:r>
            <a:r>
              <a:rPr sz="2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(AFM)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80747" y="6247561"/>
            <a:ext cx="23768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Digital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Microscope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02795" y="3651569"/>
            <a:ext cx="10986135" cy="2589847"/>
            <a:chOff x="1002982" y="3749789"/>
            <a:chExt cx="11186160" cy="285369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2982" y="3749789"/>
              <a:ext cx="2468753" cy="26517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11158" y="3890924"/>
              <a:ext cx="3177794" cy="271233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52400" y="6147903"/>
            <a:ext cx="43434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Transmission</a:t>
            </a:r>
            <a:r>
              <a:rPr sz="20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Electron</a:t>
            </a:r>
            <a:r>
              <a:rPr sz="20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Microscope</a:t>
            </a:r>
            <a:r>
              <a:rPr sz="20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2000" b="1" spc="-10" dirty="0" smtClean="0">
                <a:solidFill>
                  <a:srgbClr val="FF0000"/>
                </a:solidFill>
                <a:latin typeface="Calibri"/>
                <a:cs typeface="Calibri"/>
              </a:rPr>
              <a:t>TEM</a:t>
            </a:r>
            <a:r>
              <a:rPr lang="ar-IQ" sz="2000" b="1" spc="-10" dirty="0" smtClean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281736" y="6664307"/>
            <a:ext cx="86995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8"/>
              </a:rPr>
              <a:t>alkafeel.edu.iq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6605" y="6672843"/>
            <a:ext cx="114427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9"/>
              </a:rPr>
              <a:t>info@alkafeel.edu.i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158607" y="6075485"/>
            <a:ext cx="37757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Scanning</a:t>
            </a:r>
            <a:r>
              <a:rPr sz="20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Electron</a:t>
            </a:r>
            <a:r>
              <a:rPr sz="20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Microscope</a:t>
            </a:r>
            <a:r>
              <a:rPr sz="20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(SEM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0"/>
            <a:ext cx="7924800" cy="68452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736" y="317667"/>
            <a:ext cx="8024064" cy="902247"/>
          </a:xfrm>
          <a:prstGeom prst="rect">
            <a:avLst/>
          </a:prstGeom>
        </p:spPr>
        <p:txBody>
          <a:bodyPr vert="horz" wrap="square" lIns="0" tIns="1620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 smtClean="0">
                <a:solidFill>
                  <a:srgbClr val="C00000"/>
                </a:solidFill>
              </a:rPr>
              <a:t>L</a:t>
            </a:r>
            <a:r>
              <a:rPr lang="en-US" sz="4800" dirty="0" smtClean="0">
                <a:solidFill>
                  <a:srgbClr val="C00000"/>
                </a:solidFill>
              </a:rPr>
              <a:t>ight </a:t>
            </a:r>
            <a:r>
              <a:rPr lang="en-US" sz="4800" spc="-35" dirty="0" smtClean="0">
                <a:solidFill>
                  <a:srgbClr val="C00000"/>
                </a:solidFill>
              </a:rPr>
              <a:t>or </a:t>
            </a:r>
            <a:r>
              <a:rPr lang="en-US" sz="4800" dirty="0" smtClean="0">
                <a:solidFill>
                  <a:srgbClr val="C00000"/>
                </a:solidFill>
              </a:rPr>
              <a:t>Compound</a:t>
            </a:r>
            <a:r>
              <a:rPr lang="en-US" sz="4800" spc="-15" dirty="0" smtClean="0">
                <a:solidFill>
                  <a:srgbClr val="C00000"/>
                </a:solidFill>
              </a:rPr>
              <a:t> </a:t>
            </a:r>
            <a:r>
              <a:rPr lang="en-US" sz="4800" spc="-10" dirty="0">
                <a:solidFill>
                  <a:srgbClr val="C00000"/>
                </a:solidFill>
              </a:rPr>
              <a:t>Microscope</a:t>
            </a:r>
            <a:endParaRPr lang="en-US" sz="4800" dirty="0">
              <a:solidFill>
                <a:srgbClr val="C00000"/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5406" y="1273047"/>
            <a:ext cx="7914194" cy="528828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281736" y="6664307"/>
            <a:ext cx="86995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4"/>
              </a:rPr>
              <a:t>alkafeel.edu.iq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6605" y="6672843"/>
            <a:ext cx="114427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5"/>
              </a:rPr>
              <a:t>info@alkafeel.edu.i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8305800" y="76200"/>
            <a:ext cx="3733800" cy="6534150"/>
            <a:chOff x="8046719" y="0"/>
            <a:chExt cx="3957320" cy="6610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3879" y="0"/>
              <a:ext cx="3819905" cy="31097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719" y="3169907"/>
              <a:ext cx="3957066" cy="34400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44522" y="228600"/>
            <a:ext cx="7908878" cy="61061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</a:rPr>
              <a:t>Parts of a Light Microscope:</a:t>
            </a:r>
          </a:p>
          <a:p>
            <a:r>
              <a:rPr lang="en-US" sz="3600" b="1" dirty="0" smtClean="0">
                <a:solidFill>
                  <a:srgbClr val="C00000"/>
                </a:solidFill>
              </a:rPr>
              <a:t>1.Eyepiece Lens:</a:t>
            </a:r>
            <a:r>
              <a:rPr lang="en-US" sz="3600" dirty="0" smtClean="0">
                <a:solidFill>
                  <a:srgbClr val="C00000"/>
                </a:solidFill>
              </a:rPr>
              <a:t/>
            </a:r>
            <a:br>
              <a:rPr lang="en-US" sz="3600" dirty="0" smtClean="0">
                <a:solidFill>
                  <a:srgbClr val="C00000"/>
                </a:solidFill>
              </a:rPr>
            </a:br>
            <a:r>
              <a:rPr lang="en-US" sz="3600" dirty="0" smtClean="0"/>
              <a:t>Magnifies the image and brings it into focus for the viewer.</a:t>
            </a:r>
          </a:p>
          <a:p>
            <a:r>
              <a:rPr lang="en-US" sz="3600" b="1" dirty="0" smtClean="0">
                <a:solidFill>
                  <a:srgbClr val="C00000"/>
                </a:solidFill>
              </a:rPr>
              <a:t>2. Objective Lenses:</a:t>
            </a:r>
            <a:r>
              <a:rPr lang="en-US" sz="3600" dirty="0" smtClean="0">
                <a:solidFill>
                  <a:srgbClr val="C00000"/>
                </a:solidFill>
              </a:rPr>
              <a:t/>
            </a:r>
            <a:br>
              <a:rPr lang="en-US" sz="3600" dirty="0" smtClean="0">
                <a:solidFill>
                  <a:srgbClr val="C00000"/>
                </a:solidFill>
              </a:rPr>
            </a:br>
            <a:r>
              <a:rPr lang="en-US" sz="3600" dirty="0" smtClean="0"/>
              <a:t>Provide different levels of magnification, typically </a:t>
            </a:r>
            <a:r>
              <a:rPr lang="en-US" sz="3600" b="1" dirty="0" smtClean="0"/>
              <a:t>4×, 10×, 40×</a:t>
            </a:r>
            <a:r>
              <a:rPr lang="en-US" sz="3600" dirty="0" smtClean="0"/>
              <a:t>, and </a:t>
            </a:r>
            <a:r>
              <a:rPr lang="en-US" sz="3600" b="1" dirty="0" smtClean="0"/>
              <a:t>100×</a:t>
            </a:r>
            <a:r>
              <a:rPr lang="en-US" sz="3600" dirty="0" smtClean="0"/>
              <a:t>.</a:t>
            </a:r>
          </a:p>
          <a:p>
            <a:r>
              <a:rPr lang="en-US" sz="3600" b="1" dirty="0" smtClean="0">
                <a:solidFill>
                  <a:srgbClr val="C00000"/>
                </a:solidFill>
              </a:rPr>
              <a:t>3. Condenser: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Focuses light onto the specimen for clearer viewing.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81736" y="6664307"/>
            <a:ext cx="86995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4"/>
              </a:rPr>
              <a:t>alkafeel.edu.iq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6605" y="6672843"/>
            <a:ext cx="114427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5"/>
              </a:rPr>
              <a:t>info@alkafeel.edu.i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8001000" y="152399"/>
            <a:ext cx="4038600" cy="6400801"/>
            <a:chOff x="3550920" y="0"/>
            <a:chExt cx="8641080" cy="66433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3430" y="0"/>
              <a:ext cx="4298569" cy="27162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91754" y="2883166"/>
              <a:ext cx="4500245" cy="33966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50920" y="4282427"/>
              <a:ext cx="3804666" cy="2360422"/>
            </a:xfrm>
            <a:prstGeom prst="rect">
              <a:avLst/>
            </a:prstGeom>
          </p:spPr>
        </p:pic>
      </p:grpSp>
      <p:sp>
        <p:nvSpPr>
          <p:cNvPr id="4" name="object 4"/>
          <p:cNvSpPr txBox="1"/>
          <p:nvPr/>
        </p:nvSpPr>
        <p:spPr>
          <a:xfrm>
            <a:off x="233456" y="152399"/>
            <a:ext cx="7538944" cy="641265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4. Arm: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The curved structure that supports and holds all the optical components in place.</a:t>
            </a:r>
          </a:p>
          <a:p>
            <a:r>
              <a:rPr lang="en-US" sz="3200" b="1" dirty="0" smtClean="0">
                <a:solidFill>
                  <a:srgbClr val="C00000"/>
                </a:solidFill>
              </a:rPr>
              <a:t>5. Base: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The bottom part of the microscope that supports its entire weight and provides stability.</a:t>
            </a:r>
          </a:p>
          <a:p>
            <a:r>
              <a:rPr lang="en-US" sz="3200" b="1" dirty="0" smtClean="0">
                <a:solidFill>
                  <a:srgbClr val="C00000"/>
                </a:solidFill>
              </a:rPr>
              <a:t>6. Stage: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The flat platform where the glass slide with the specimen is placed for observation.</a:t>
            </a:r>
          </a:p>
          <a:p>
            <a:pPr marL="0" indent="0" algn="l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7-Stage Clips: </a:t>
            </a:r>
            <a:r>
              <a:rPr lang="en-US" sz="3200" dirty="0" smtClean="0"/>
              <a:t>holds down the slide on the stage. 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281736" y="6664307"/>
            <a:ext cx="86995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5"/>
              </a:rPr>
              <a:t>alkafeel.edu.iq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6605" y="6672843"/>
            <a:ext cx="114427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6"/>
              </a:rPr>
              <a:t>info@alkafeel.edu.i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457200" y="228600"/>
            <a:ext cx="11277600" cy="3390500"/>
            <a:chOff x="196900" y="129159"/>
            <a:chExt cx="11487293" cy="3461257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900" y="129159"/>
              <a:ext cx="5571871" cy="33670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2216" y="129286"/>
              <a:ext cx="5121977" cy="3461130"/>
            </a:xfrm>
            <a:prstGeom prst="rect">
              <a:avLst/>
            </a:prstGeom>
          </p:spPr>
        </p:pic>
      </p:grpSp>
      <p:sp>
        <p:nvSpPr>
          <p:cNvPr id="3" name="object 3"/>
          <p:cNvSpPr txBox="1"/>
          <p:nvPr/>
        </p:nvSpPr>
        <p:spPr>
          <a:xfrm>
            <a:off x="470345" y="3619100"/>
            <a:ext cx="10896600" cy="259622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8-Light Source: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Higher-quality microscopes have a built-in light source to illuminate the specimen.</a:t>
            </a:r>
          </a:p>
          <a:p>
            <a:r>
              <a:rPr lang="en-US" sz="2400" b="1" dirty="0" smtClean="0">
                <a:solidFill>
                  <a:srgbClr val="C00000"/>
                </a:solidFill>
              </a:rPr>
              <a:t>9-Focusing Knobs: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These knobs adjust the focus by moving the stage up and down. They include </a:t>
            </a:r>
            <a:r>
              <a:rPr lang="en-US" sz="2400" b="1" dirty="0" smtClean="0">
                <a:solidFill>
                  <a:srgbClr val="C00000"/>
                </a:solidFill>
              </a:rPr>
              <a:t>coarse adjustment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(for general focusing) and </a:t>
            </a:r>
            <a:r>
              <a:rPr lang="en-US" sz="2400" b="1" dirty="0" smtClean="0">
                <a:solidFill>
                  <a:srgbClr val="C00000"/>
                </a:solidFill>
              </a:rPr>
              <a:t>fine adjustment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</a:p>
          <a:p>
            <a:r>
              <a:rPr lang="en-US" sz="2400" dirty="0" smtClean="0"/>
              <a:t>(for precise focusing).</a:t>
            </a:r>
            <a:endParaRPr lang="en-US" sz="24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81736" y="6664307"/>
            <a:ext cx="86995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4"/>
              </a:rPr>
              <a:t>alkafeel.edu.iq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6605" y="6672843"/>
            <a:ext cx="114427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5"/>
              </a:rPr>
              <a:t>info@alkafeel.edu.i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281736" y="6664307"/>
            <a:ext cx="86995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2"/>
              </a:rPr>
              <a:t>alkafeel.edu.iq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6605" y="6672843"/>
            <a:ext cx="114427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3"/>
              </a:rPr>
              <a:t>info@alkafeel.edu.i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  <p:sp>
        <p:nvSpPr>
          <p:cNvPr id="2" name="مستطيل 1"/>
          <p:cNvSpPr/>
          <p:nvPr/>
        </p:nvSpPr>
        <p:spPr>
          <a:xfrm>
            <a:off x="281736" y="196938"/>
            <a:ext cx="1168166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How to use a microscope:</a:t>
            </a:r>
          </a:p>
          <a:p>
            <a:endParaRPr lang="en-US" sz="3600" b="1" dirty="0"/>
          </a:p>
          <a:p>
            <a:r>
              <a:rPr lang="en-US" sz="3600" dirty="0" smtClean="0">
                <a:solidFill>
                  <a:srgbClr val="C00000"/>
                </a:solidFill>
              </a:rPr>
              <a:t>1-Carrying the Microscope: </a:t>
            </a:r>
            <a:r>
              <a:rPr lang="en-US" sz="3600" dirty="0" smtClean="0"/>
              <a:t>Hold the microscope by its arm with one hand and support the base with the other.</a:t>
            </a:r>
          </a:p>
          <a:p>
            <a:pPr marL="0" indent="0" algn="l">
              <a:buNone/>
            </a:pPr>
            <a:r>
              <a:rPr lang="en-US" sz="3600" dirty="0" smtClean="0">
                <a:solidFill>
                  <a:srgbClr val="C00000"/>
                </a:solidFill>
              </a:rPr>
              <a:t>2. Place </a:t>
            </a:r>
            <a:r>
              <a:rPr lang="en-US" sz="3600" dirty="0" smtClean="0"/>
              <a:t>the microscope on a table with the arm toward you.</a:t>
            </a:r>
          </a:p>
          <a:p>
            <a:pPr marL="0" indent="0" algn="l">
              <a:buNone/>
            </a:pPr>
            <a:r>
              <a:rPr lang="en-US" sz="3600" dirty="0" smtClean="0">
                <a:solidFill>
                  <a:srgbClr val="C00000"/>
                </a:solidFill>
              </a:rPr>
              <a:t>3.Turn</a:t>
            </a:r>
            <a:r>
              <a:rPr lang="en-US" sz="3600" dirty="0" smtClean="0"/>
              <a:t> the coarse adjustment knob to raise the body tube.</a:t>
            </a:r>
          </a:p>
          <a:p>
            <a:pPr marL="0" indent="0" algn="l">
              <a:buNone/>
            </a:pPr>
            <a:r>
              <a:rPr lang="en-US" sz="3600" dirty="0" smtClean="0">
                <a:solidFill>
                  <a:srgbClr val="C00000"/>
                </a:solidFill>
              </a:rPr>
              <a:t>4. Rotate </a:t>
            </a:r>
            <a:r>
              <a:rPr lang="en-US" sz="3600" dirty="0" smtClean="0"/>
              <a:t>the nosepiece until the low-power objective lens clicks into position.</a:t>
            </a:r>
            <a:endParaRPr lang="ar-IQ" sz="3600" dirty="0"/>
          </a:p>
        </p:txBody>
      </p:sp>
    </p:spTree>
    <p:extLst>
      <p:ext uri="{BB962C8B-B14F-4D97-AF65-F5344CB8AC3E}">
        <p14:creationId xmlns:p14="http://schemas.microsoft.com/office/powerpoint/2010/main" val="716859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73532"/>
            <a:ext cx="12192000" cy="384810"/>
            <a:chOff x="0" y="6473532"/>
            <a:chExt cx="12192000" cy="384810"/>
          </a:xfrm>
        </p:grpSpPr>
        <p:sp>
          <p:nvSpPr>
            <p:cNvPr id="3" name="object 3"/>
            <p:cNvSpPr/>
            <p:nvPr/>
          </p:nvSpPr>
          <p:spPr>
            <a:xfrm>
              <a:off x="0" y="6659759"/>
              <a:ext cx="12192000" cy="198755"/>
            </a:xfrm>
            <a:custGeom>
              <a:avLst/>
              <a:gdLst/>
              <a:ahLst/>
              <a:cxnLst/>
              <a:rect l="l" t="t" r="r" b="b"/>
              <a:pathLst>
                <a:path w="12192000" h="198754">
                  <a:moveTo>
                    <a:pt x="12192001" y="0"/>
                  </a:moveTo>
                  <a:lnTo>
                    <a:pt x="0" y="0"/>
                  </a:lnTo>
                  <a:lnTo>
                    <a:pt x="1" y="198240"/>
                  </a:lnTo>
                  <a:lnTo>
                    <a:pt x="12192001" y="198240"/>
                  </a:lnTo>
                  <a:lnTo>
                    <a:pt x="1219200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79" y="6676116"/>
              <a:ext cx="226809" cy="1818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6700" y="6661834"/>
              <a:ext cx="267931" cy="1682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785600" y="6473532"/>
              <a:ext cx="406400" cy="372110"/>
            </a:xfrm>
            <a:custGeom>
              <a:avLst/>
              <a:gdLst/>
              <a:ahLst/>
              <a:cxnLst/>
              <a:rect l="l" t="t" r="r" b="b"/>
              <a:pathLst>
                <a:path w="406400" h="372109">
                  <a:moveTo>
                    <a:pt x="406400" y="0"/>
                  </a:moveTo>
                  <a:lnTo>
                    <a:pt x="0" y="185877"/>
                  </a:lnTo>
                  <a:lnTo>
                    <a:pt x="406400" y="37176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0"/>
            <a:ext cx="10058400" cy="56570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595878" y="4758944"/>
            <a:ext cx="414972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dirty="0">
                <a:solidFill>
                  <a:srgbClr val="1F3863"/>
                </a:solidFill>
                <a:latin typeface="Ebrima"/>
                <a:cs typeface="Ebrima"/>
              </a:rPr>
              <a:t>Thank</a:t>
            </a:r>
            <a:r>
              <a:rPr sz="6600" b="1" spc="-20" dirty="0">
                <a:solidFill>
                  <a:srgbClr val="1F3863"/>
                </a:solidFill>
                <a:latin typeface="Ebrima"/>
                <a:cs typeface="Ebrima"/>
              </a:rPr>
              <a:t> </a:t>
            </a:r>
            <a:r>
              <a:rPr sz="6600" b="1" spc="-25" dirty="0">
                <a:solidFill>
                  <a:srgbClr val="1F3863"/>
                </a:solidFill>
                <a:latin typeface="Ebrima"/>
                <a:cs typeface="Ebrima"/>
              </a:rPr>
              <a:t>you</a:t>
            </a:r>
            <a:endParaRPr sz="6600" dirty="0">
              <a:latin typeface="Ebrima"/>
              <a:cs typeface="Ebri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1F3863"/>
                </a:solidFill>
              </a:rPr>
              <a:t>Any</a:t>
            </a:r>
            <a:r>
              <a:rPr sz="3600" spc="-105" dirty="0">
                <a:solidFill>
                  <a:srgbClr val="1F3863"/>
                </a:solidFill>
              </a:rPr>
              <a:t> </a:t>
            </a:r>
            <a:r>
              <a:rPr sz="3600" spc="-10" dirty="0">
                <a:solidFill>
                  <a:srgbClr val="1F3863"/>
                </a:solidFill>
              </a:rPr>
              <a:t>Question?</a:t>
            </a:r>
            <a:endParaRPr sz="3600" dirty="0"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60591" y="2043938"/>
            <a:ext cx="5276596" cy="288404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281736" y="6664307"/>
            <a:ext cx="86995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6"/>
              </a:rPr>
              <a:t>alkafeel.edu.iq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6605" y="6672843"/>
            <a:ext cx="1144270" cy="20383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10" dirty="0">
                <a:solidFill>
                  <a:srgbClr val="FFFFFF"/>
                </a:solidFill>
                <a:latin typeface="Ebrima"/>
                <a:cs typeface="Ebrima"/>
                <a:hlinkClick r:id="rId7"/>
              </a:rPr>
              <a:t>info@alkafeel.edu.i</a:t>
            </a:r>
            <a:endParaRPr sz="1050" dirty="0">
              <a:latin typeface="Ebrima"/>
              <a:cs typeface="Ebri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Tuesday,</a:t>
            </a:r>
            <a:r>
              <a:rPr spc="-35" dirty="0"/>
              <a:t> </a:t>
            </a:r>
            <a:r>
              <a:rPr dirty="0"/>
              <a:t>August</a:t>
            </a:r>
            <a:r>
              <a:rPr spc="-20" dirty="0"/>
              <a:t> </a:t>
            </a:r>
            <a:r>
              <a:rPr dirty="0"/>
              <a:t>24,</a:t>
            </a:r>
            <a:r>
              <a:rPr spc="-5" dirty="0"/>
              <a:t> </a:t>
            </a:r>
            <a:r>
              <a:rPr spc="-20" dirty="0"/>
              <a:t>2021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329</Words>
  <Application>Microsoft Office PowerPoint</Application>
  <PresentationFormat>مخصص</PresentationFormat>
  <Paragraphs>88</Paragraphs>
  <Slides>11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2" baseType="lpstr">
      <vt:lpstr>Office Theme</vt:lpstr>
      <vt:lpstr>Medical Microbiology Third stage- College of Dentistry </vt:lpstr>
      <vt:lpstr>عرض تقديمي في PowerPoint</vt:lpstr>
      <vt:lpstr>عرض تقديمي في PowerPoint</vt:lpstr>
      <vt:lpstr>عرض تقديمي في PowerPoint</vt:lpstr>
      <vt:lpstr>Confocal Microscope</vt:lpstr>
      <vt:lpstr>Light or Compound Microscope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Any Question?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intel</dc:creator>
  <cp:lastModifiedBy>Maher</cp:lastModifiedBy>
  <cp:revision>24</cp:revision>
  <dcterms:created xsi:type="dcterms:W3CDTF">2025-01-13T18:29:43Z</dcterms:created>
  <dcterms:modified xsi:type="dcterms:W3CDTF">2025-09-25T16:01:39Z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2025-01-13T00:00:00Z</vt:filetime>
  </property>
  <property fmtid="{D5CDD505-2E9C-101B-9397-08002B2CF9AE}" pid="5" name="Producer">
    <vt:lpwstr>Microsoft® PowerPoint® 2010</vt:lpwstr>
  </property>
</Properties>
</file>
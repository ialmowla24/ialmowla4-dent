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49" r:id="rId1"/>
  </p:sldMasterIdLst>
  <p:notesMasterIdLst>
    <p:notesMasterId r:id="rId22"/>
  </p:notesMasterIdLst>
  <p:sldIdLst>
    <p:sldId id="256" r:id="rId2"/>
    <p:sldId id="479" r:id="rId3"/>
    <p:sldId id="497" r:id="rId4"/>
    <p:sldId id="501" r:id="rId5"/>
    <p:sldId id="515" r:id="rId6"/>
    <p:sldId id="502" r:id="rId7"/>
    <p:sldId id="527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23" r:id="rId16"/>
    <p:sldId id="513" r:id="rId17"/>
    <p:sldId id="524" r:id="rId18"/>
    <p:sldId id="525" r:id="rId19"/>
    <p:sldId id="526" r:id="rId20"/>
    <p:sldId id="417" r:id="rId21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767171"/>
    <a:srgbClr val="FBD7F4"/>
    <a:srgbClr val="0070C0"/>
    <a:srgbClr val="2F5597"/>
    <a:srgbClr val="525252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1030" autoAdjust="0"/>
  </p:normalViewPr>
  <p:slideViewPr>
    <p:cSldViewPr snapToGrid="0">
      <p:cViewPr varScale="1">
        <p:scale>
          <a:sx n="102" d="100"/>
          <a:sy n="102" d="100"/>
        </p:scale>
        <p:origin x="9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972561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624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34C15537-AFD1-458D-BFEC-E1213B376EFE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8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972561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624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3B562D98-32FC-4CDB-BE25-F67B878E0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99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44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27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ED790-3FF6-20D9-3FA5-2160EF280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D5725-F3E2-47A1-0EA0-EA005CB86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8EEDC-F912-C7E7-C630-5187B2431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FC2D4-011A-26B1-BA59-AF5BF3558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70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DC3C-58C0-1F12-873F-7FDAAA06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E828F-0F4B-54C8-09B0-0A2A8FC1E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9E92E-DBAB-4B08-A99A-3E2189FF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AA918-470E-DE3A-63F7-E727AFA25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27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158E-7B17-AA21-941B-E8D2D3C7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4EFCD-C3DB-CF3A-72C1-2BD8636FC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322C2-8070-3C6E-D209-425746F4A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14F01-2D98-F27D-E57E-177E62371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11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DDCB-543C-60B0-3EC2-ADFB9115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62907-AD4F-65E4-7135-3F1733383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25EA8-395C-FC8B-A13D-59777D4AB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CC291-CF93-EEA9-D51D-E9F3AA1FC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6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2FD42-FA57-82BF-FDEA-33701594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E5D1D-5D91-C59E-918C-04D3ADE03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4A7D4-B904-E5AF-FEA9-271C59901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F5A43-6D8A-19F6-B759-944F808B3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55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1BBCD-5B48-D758-AEFF-0B17D627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263FE-2D68-9F0E-9166-911C2F4B2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024AFF-0EB0-B25B-DAE3-38CBB1354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78B2E-23F2-8DF0-6F23-C8DC1DFD6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45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30566-D1A2-364D-8385-44A75CDBE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3C486-62D1-660E-684D-3FE3BA2EB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B18C7-0224-4831-488F-4CF5145B4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20548-1A7F-1F32-B4F6-5A9BB52CF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73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13C19-45F7-F0E9-F96B-124A6A1C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EE476-1921-8052-6578-3CA0A6DD2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98C7A-55AE-52A5-5165-9ADE95FD7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34B3C-8321-43C2-7F7F-CC064D6B5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60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FA7EE-C8C2-6026-38DA-59AAC67A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B61AD-ADEF-EA59-8C74-4342008D2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49E7F-B256-8149-75AD-215F6BDA6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5E78A-8635-6F2E-D638-CE1479D9B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78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C5AF2-1DDC-8956-CBCE-169ECAB0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AE2B2-DA90-EFE2-B1DB-223FD555C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FEEF1-8D8E-A932-427B-F20395237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2C831-9644-625A-185F-67F6711E0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34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0D2CD-2EA5-16D1-3020-9421AA34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E5EBD-8808-B0AE-27AB-5F79C9F23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D3FE4-062C-23AA-F49B-D484D7162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99398-5C56-38AE-C124-9B33694F0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27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836CA-3675-9DD6-A782-C1E39A8E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188CB-9D70-50E4-B7EF-AF9563202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235D0-3E48-A4AE-51C0-E828A1CE4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9272F-62D1-1D59-DC40-D382DE7E3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04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04B78-5481-19C3-064C-79303668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B381F-F94D-1C73-983C-911F14FF5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12ACB-54B1-505F-1CB9-437B704DC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5CAA7-80B0-9510-9D4D-C866E0BCA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71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16F2-1BB6-6D7F-9100-564B7ECA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CA5AE-5AC4-27C9-4FB8-A32C4C4C8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1E982-99F8-09CF-AB9E-269968F1A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09764-08A1-F832-E6B8-B647B9B11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50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D459A-AFBB-7D06-469D-32D11BBC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C2A7B-FB73-568B-F7FC-B86CFC979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FF017-E9CD-5FFC-CA52-CFCE9939D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BC946-46B0-3305-F270-FC1018F4C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8563E-E11E-DB57-524C-BA77F2F8D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32756-E2E1-7AFE-4393-DAA7EC5A9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E2254-619B-36C3-8C68-F438F0179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361D0-8970-92DB-82A1-55D17DB59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6EE0-4958-405E-0469-C43B0E0A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E366D-83BA-3FC2-F3C0-DA81047FA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FF1B8-8486-33D4-0077-7DCC88EBA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8237B-160B-CA1D-7983-E87B55A85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62D98-32FC-4CDB-BE25-F67B878E078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79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937659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036275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06125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93277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017563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697847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83012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81208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34375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80163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832818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Tuesday, August 24, 2021</a:t>
            </a:r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صورة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58399" cy="56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25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صورة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452" y="-12700"/>
            <a:ext cx="9620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92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خماسي 5"/>
          <p:cNvSpPr/>
          <p:nvPr userDrawn="1"/>
        </p:nvSpPr>
        <p:spPr>
          <a:xfrm>
            <a:off x="0" y="491526"/>
            <a:ext cx="381000" cy="304341"/>
          </a:xfrm>
          <a:prstGeom prst="homePlat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صورة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28"/>
          <a:stretch/>
        </p:blipFill>
        <p:spPr>
          <a:xfrm>
            <a:off x="2571452" y="-1"/>
            <a:ext cx="9620548" cy="502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32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خماسي 6"/>
          <p:cNvSpPr/>
          <p:nvPr userDrawn="1"/>
        </p:nvSpPr>
        <p:spPr>
          <a:xfrm>
            <a:off x="0" y="491526"/>
            <a:ext cx="381000" cy="304341"/>
          </a:xfrm>
          <a:prstGeom prst="homePlat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09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مثلث متساوي الساقين 4"/>
          <p:cNvSpPr/>
          <p:nvPr userDrawn="1"/>
        </p:nvSpPr>
        <p:spPr>
          <a:xfrm rot="8430187">
            <a:off x="8422510" y="5743700"/>
            <a:ext cx="592992" cy="45899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مثلث متساوي الساقين 5"/>
          <p:cNvSpPr/>
          <p:nvPr userDrawn="1"/>
        </p:nvSpPr>
        <p:spPr>
          <a:xfrm rot="8430187">
            <a:off x="9086321" y="5691741"/>
            <a:ext cx="461355" cy="302947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مثلث متساوي الساقين 6"/>
          <p:cNvSpPr/>
          <p:nvPr userDrawn="1"/>
        </p:nvSpPr>
        <p:spPr>
          <a:xfrm rot="8430187">
            <a:off x="7985005" y="5418315"/>
            <a:ext cx="461355" cy="302947"/>
          </a:xfrm>
          <a:prstGeom prst="triangl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مثلث متساوي الساقين 7"/>
          <p:cNvSpPr/>
          <p:nvPr userDrawn="1"/>
        </p:nvSpPr>
        <p:spPr>
          <a:xfrm rot="8430187">
            <a:off x="10539176" y="911604"/>
            <a:ext cx="592992" cy="45899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مثلث متساوي الساقين 8"/>
          <p:cNvSpPr/>
          <p:nvPr userDrawn="1"/>
        </p:nvSpPr>
        <p:spPr>
          <a:xfrm rot="8430187">
            <a:off x="11202987" y="859645"/>
            <a:ext cx="461355" cy="302947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مثلث متساوي الساقين 9"/>
          <p:cNvSpPr/>
          <p:nvPr userDrawn="1"/>
        </p:nvSpPr>
        <p:spPr>
          <a:xfrm rot="8430187">
            <a:off x="10101671" y="586219"/>
            <a:ext cx="461355" cy="302947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خماسي 12"/>
          <p:cNvSpPr/>
          <p:nvPr userDrawn="1"/>
        </p:nvSpPr>
        <p:spPr>
          <a:xfrm>
            <a:off x="0" y="491526"/>
            <a:ext cx="381000" cy="304341"/>
          </a:xfrm>
          <a:prstGeom prst="homePlat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57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مثلث متساوي الساقين 5"/>
          <p:cNvSpPr/>
          <p:nvPr userDrawn="1"/>
        </p:nvSpPr>
        <p:spPr>
          <a:xfrm rot="8430187">
            <a:off x="11354288" y="5574791"/>
            <a:ext cx="592992" cy="45899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مثلث متساوي الساقين 6"/>
          <p:cNvSpPr/>
          <p:nvPr userDrawn="1"/>
        </p:nvSpPr>
        <p:spPr>
          <a:xfrm rot="8430187">
            <a:off x="11045345" y="5115617"/>
            <a:ext cx="461355" cy="302947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مثلث متساوي الساقين 7"/>
          <p:cNvSpPr/>
          <p:nvPr userDrawn="1"/>
        </p:nvSpPr>
        <p:spPr>
          <a:xfrm rot="8430187">
            <a:off x="619483" y="3047786"/>
            <a:ext cx="592992" cy="45899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مثلث متساوي الساقين 8"/>
          <p:cNvSpPr/>
          <p:nvPr userDrawn="1"/>
        </p:nvSpPr>
        <p:spPr>
          <a:xfrm rot="8430187">
            <a:off x="310540" y="2588612"/>
            <a:ext cx="461355" cy="302947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خماسي 10"/>
          <p:cNvSpPr/>
          <p:nvPr userDrawn="1"/>
        </p:nvSpPr>
        <p:spPr>
          <a:xfrm>
            <a:off x="0" y="491526"/>
            <a:ext cx="381000" cy="304341"/>
          </a:xfrm>
          <a:prstGeom prst="homePlat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16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صورة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06"/>
          <a:stretch/>
        </p:blipFill>
        <p:spPr>
          <a:xfrm>
            <a:off x="2571452" y="0"/>
            <a:ext cx="9620548" cy="4491566"/>
          </a:xfrm>
          <a:prstGeom prst="rect">
            <a:avLst/>
          </a:prstGeom>
        </p:spPr>
      </p:pic>
      <p:sp>
        <p:nvSpPr>
          <p:cNvPr id="9" name="خماسي 8"/>
          <p:cNvSpPr/>
          <p:nvPr userDrawn="1"/>
        </p:nvSpPr>
        <p:spPr>
          <a:xfrm>
            <a:off x="0" y="491526"/>
            <a:ext cx="381000" cy="304341"/>
          </a:xfrm>
          <a:prstGeom prst="homePlat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28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مثلث متساوي الساقين 5"/>
          <p:cNvSpPr/>
          <p:nvPr userDrawn="1"/>
        </p:nvSpPr>
        <p:spPr>
          <a:xfrm rot="8430187">
            <a:off x="11520742" y="746124"/>
            <a:ext cx="592992" cy="458994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مثلث متساوي الساقين 6"/>
          <p:cNvSpPr/>
          <p:nvPr userDrawn="1"/>
        </p:nvSpPr>
        <p:spPr>
          <a:xfrm rot="8430187">
            <a:off x="11211799" y="286950"/>
            <a:ext cx="461355" cy="302947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خماسي 9"/>
          <p:cNvSpPr/>
          <p:nvPr userDrawn="1"/>
        </p:nvSpPr>
        <p:spPr>
          <a:xfrm>
            <a:off x="0" y="491526"/>
            <a:ext cx="381000" cy="304341"/>
          </a:xfrm>
          <a:prstGeom prst="homePlat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684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صورة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58400" cy="56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66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تخطيط مخص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1716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August 24, 2021</a:t>
            </a: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3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hyperlink" Target="https://alkafeel.edu.iq/" TargetMode="Externa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hyperlink" Target="mailto:info@alkafeel.edu.iq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Tuesday, August 24,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DE988-B918-46E7-8630-39C72EC84C9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مجموعة 11">
            <a:extLst>
              <a:ext uri="{FF2B5EF4-FFF2-40B4-BE49-F238E27FC236}">
                <a16:creationId xmlns:a16="http://schemas.microsoft.com/office/drawing/2014/main" id="{DBB5F9BB-4568-ACD4-2BCF-B63F6AEE5CFD}"/>
              </a:ext>
            </a:extLst>
          </p:cNvPr>
          <p:cNvGrpSpPr/>
          <p:nvPr userDrawn="1"/>
        </p:nvGrpSpPr>
        <p:grpSpPr>
          <a:xfrm>
            <a:off x="2" y="6644903"/>
            <a:ext cx="12192000" cy="262384"/>
            <a:chOff x="0" y="6631471"/>
            <a:chExt cx="12192000" cy="262384"/>
          </a:xfrm>
          <a:solidFill>
            <a:srgbClr val="00B0F0"/>
          </a:solidFill>
        </p:grpSpPr>
        <p:sp>
          <p:nvSpPr>
            <p:cNvPr id="8" name="مستطيل 6">
              <a:extLst>
                <a:ext uri="{FF2B5EF4-FFF2-40B4-BE49-F238E27FC236}">
                  <a16:creationId xmlns:a16="http://schemas.microsoft.com/office/drawing/2014/main" id="{30EC4DD8-8F8A-B0A0-9F56-2E31D54EA2E1}"/>
                </a:ext>
              </a:extLst>
            </p:cNvPr>
            <p:cNvSpPr/>
            <p:nvPr userDrawn="1"/>
          </p:nvSpPr>
          <p:spPr>
            <a:xfrm>
              <a:off x="0" y="6646332"/>
              <a:ext cx="12192000" cy="2116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صورة 7">
              <a:extLst>
                <a:ext uri="{FF2B5EF4-FFF2-40B4-BE49-F238E27FC236}">
                  <a16:creationId xmlns:a16="http://schemas.microsoft.com/office/drawing/2014/main" id="{B6B57144-D318-D8F8-BCE9-A0834990A5A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964" t="67066" r="38844" b="16206"/>
            <a:stretch/>
          </p:blipFill>
          <p:spPr>
            <a:xfrm>
              <a:off x="64477" y="6662689"/>
              <a:ext cx="226814" cy="195310"/>
            </a:xfrm>
            <a:prstGeom prst="rect">
              <a:avLst/>
            </a:prstGeom>
            <a:grpFill/>
          </p:spPr>
        </p:pic>
        <p:pic>
          <p:nvPicPr>
            <p:cNvPr id="10" name="صورة 8">
              <a:extLst>
                <a:ext uri="{FF2B5EF4-FFF2-40B4-BE49-F238E27FC236}">
                  <a16:creationId xmlns:a16="http://schemas.microsoft.com/office/drawing/2014/main" id="{4373EB84-3AE8-02A6-7EF1-183E7F92E5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30" t="83121" r="34228" b="-2035"/>
            <a:stretch/>
          </p:blipFill>
          <p:spPr>
            <a:xfrm>
              <a:off x="1186705" y="6648406"/>
              <a:ext cx="267933" cy="188545"/>
            </a:xfrm>
            <a:prstGeom prst="rect">
              <a:avLst/>
            </a:prstGeom>
            <a:grpFill/>
          </p:spPr>
        </p:pic>
        <p:sp>
          <p:nvSpPr>
            <p:cNvPr id="11" name="مربع نص 9">
              <a:hlinkClick r:id="rId26"/>
              <a:extLst>
                <a:ext uri="{FF2B5EF4-FFF2-40B4-BE49-F238E27FC236}">
                  <a16:creationId xmlns:a16="http://schemas.microsoft.com/office/drawing/2014/main" id="{6845BA57-04EB-DDE0-5998-9F5432EE1204}"/>
                </a:ext>
              </a:extLst>
            </p:cNvPr>
            <p:cNvSpPr txBox="1"/>
            <p:nvPr userDrawn="1"/>
          </p:nvSpPr>
          <p:spPr>
            <a:xfrm>
              <a:off x="201572" y="6631471"/>
              <a:ext cx="10260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Abhaya Libre ExtraBold" panose="02000803000000000000" pitchFamily="2" charset="0"/>
                  <a:cs typeface="Abhaya Libre ExtraBold" panose="02000803000000000000" pitchFamily="2" charset="0"/>
                </a:rPr>
                <a:t>alkafeel.edu.iq</a:t>
              </a:r>
            </a:p>
          </p:txBody>
        </p:sp>
        <p:sp>
          <p:nvSpPr>
            <p:cNvPr id="12" name="مربع نص 10">
              <a:hlinkClick r:id="rId27"/>
              <a:extLst>
                <a:ext uri="{FF2B5EF4-FFF2-40B4-BE49-F238E27FC236}">
                  <a16:creationId xmlns:a16="http://schemas.microsoft.com/office/drawing/2014/main" id="{CD711F12-D39B-9C89-8532-2BBE391D7206}"/>
                </a:ext>
              </a:extLst>
            </p:cNvPr>
            <p:cNvSpPr txBox="1"/>
            <p:nvPr userDrawn="1"/>
          </p:nvSpPr>
          <p:spPr>
            <a:xfrm>
              <a:off x="1403835" y="6639939"/>
              <a:ext cx="136476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  <a:latin typeface="Abhaya Libre ExtraBold" panose="02000803000000000000" pitchFamily="2" charset="0"/>
                  <a:cs typeface="Abhaya Libre ExtraBold" panose="02000803000000000000" pitchFamily="2" charset="0"/>
                </a:rPr>
                <a:t>info@alkafeel.edu.iq</a:t>
              </a:r>
            </a:p>
          </p:txBody>
        </p:sp>
      </p:grpSp>
      <p:sp>
        <p:nvSpPr>
          <p:cNvPr id="13" name="مثلث متساوي الساقين 12">
            <a:extLst>
              <a:ext uri="{FF2B5EF4-FFF2-40B4-BE49-F238E27FC236}">
                <a16:creationId xmlns:a16="http://schemas.microsoft.com/office/drawing/2014/main" id="{1B9FB60C-9B5B-56B9-4365-4FD1AA8888E8}"/>
              </a:ext>
            </a:extLst>
          </p:cNvPr>
          <p:cNvSpPr/>
          <p:nvPr userDrawn="1"/>
        </p:nvSpPr>
        <p:spPr>
          <a:xfrm rot="16200000">
            <a:off x="11802917" y="6456215"/>
            <a:ext cx="371770" cy="406400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0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661" r:id="rId13"/>
    <p:sldLayoutId id="2147483662" r:id="rId14"/>
    <p:sldLayoutId id="2147483670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49" r:id="rId2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رقم الشريحة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CuadroTexto 12">
            <a:extLst>
              <a:ext uri="{FF2B5EF4-FFF2-40B4-BE49-F238E27FC236}">
                <a16:creationId xmlns:a16="http://schemas.microsoft.com/office/drawing/2014/main" id="{E64576C3-6501-BB46-8E15-7D15ADCDF450}"/>
              </a:ext>
            </a:extLst>
          </p:cNvPr>
          <p:cNvSpPr txBox="1"/>
          <p:nvPr/>
        </p:nvSpPr>
        <p:spPr>
          <a:xfrm>
            <a:off x="6183984" y="1706251"/>
            <a:ext cx="600801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</a:rPr>
              <a:t>University of Alkafeel,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</a:rPr>
              <a:t>College of Dentistry,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</a:rPr>
              <a:t>Year 3, Course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Bold SemiConden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92278F">
                    <a:lumMod val="75000"/>
                  </a:srgbClr>
                </a:solidFill>
                <a:effectLst/>
                <a:uLnTx/>
                <a:uFillTx/>
                <a:latin typeface="Bahnschrift SemiBold SemiConden" panose="020B0502040204020203" pitchFamily="34" charset="0"/>
              </a:rPr>
              <a:t>Pathology Lab 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ahnschrift SemiBold SemiConden" panose="020B0502040204020203" pitchFamily="34" charset="0"/>
              </a:rPr>
              <a:t>Acute Inflammation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SemiBold SemiConden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FE38D4-2832-6434-5FD5-49AA7CA3119D}"/>
              </a:ext>
            </a:extLst>
          </p:cNvPr>
          <p:cNvSpPr txBox="1"/>
          <p:nvPr/>
        </p:nvSpPr>
        <p:spPr>
          <a:xfrm>
            <a:off x="7084243" y="6230566"/>
            <a:ext cx="6697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  <a:cs typeface="Arial" panose="020B0604020202020204" pitchFamily="34" charset="0"/>
              </a:rPr>
              <a:t>By: </a:t>
            </a:r>
            <a:r>
              <a:rPr kumimoji="0" lang="fr-FR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  <a:cs typeface="Segoe UI Symbol"/>
              </a:rPr>
              <a:t>Assistant</a:t>
            </a:r>
            <a:r>
              <a:rPr kumimoji="0" lang="fr-FR" sz="20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  <a:cs typeface="Segoe UI Symbol"/>
              </a:rPr>
              <a:t> </a:t>
            </a:r>
            <a:r>
              <a:rPr kumimoji="0" lang="fr-FR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  <a:cs typeface="Segoe UI Symbol"/>
              </a:rPr>
              <a:t>Lecturer,</a:t>
            </a:r>
            <a:r>
              <a:rPr lang="fr-FR" sz="2000" b="1" dirty="0">
                <a:solidFill>
                  <a:prstClr val="black"/>
                </a:solidFill>
                <a:latin typeface="Bahnschrift SemiBold SemiConden" panose="020B0502040204020203" pitchFamily="34" charset="0"/>
                <a:cs typeface="Segoe UI Symbol"/>
              </a:rPr>
              <a:t>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  <a:cs typeface="Segoe UI Symbol"/>
              </a:rPr>
              <a:t>Soroor</a:t>
            </a:r>
            <a:r>
              <a:rPr kumimoji="0" lang="fr-FR" sz="20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  <a:cs typeface="Segoe UI Symbol"/>
              </a:rPr>
              <a:t>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  <a:cs typeface="Segoe UI Symbol"/>
              </a:rPr>
              <a:t>M.</a:t>
            </a:r>
            <a:r>
              <a:rPr kumimoji="0" lang="fr-FR" sz="20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  <a:cs typeface="Segoe UI Symbol"/>
              </a:rPr>
              <a:t>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 SemiConden" panose="020B0502040204020203" pitchFamily="34" charset="0"/>
                <a:cs typeface="Segoe UI Symbol"/>
              </a:rPr>
              <a:t>Hadi</a:t>
            </a:r>
          </a:p>
        </p:txBody>
      </p:sp>
    </p:spTree>
    <p:extLst>
      <p:ext uri="{BB962C8B-B14F-4D97-AF65-F5344CB8AC3E}">
        <p14:creationId xmlns:p14="http://schemas.microsoft.com/office/powerpoint/2010/main" val="11628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91989-E4B6-2856-8F48-9458DC34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EB6DF6C0-A891-1164-21C7-8FE00865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3D41C-E420-EA13-18A0-4CA5FA5D3440}"/>
              </a:ext>
            </a:extLst>
          </p:cNvPr>
          <p:cNvSpPr txBox="1"/>
          <p:nvPr/>
        </p:nvSpPr>
        <p:spPr>
          <a:xfrm>
            <a:off x="632138" y="-48932"/>
            <a:ext cx="1136818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Learning Objectives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6066D2-506A-D59F-2CFF-BF816BD230F4}"/>
              </a:ext>
            </a:extLst>
          </p:cNvPr>
          <p:cNvSpPr txBox="1"/>
          <p:nvPr/>
        </p:nvSpPr>
        <p:spPr>
          <a:xfrm>
            <a:off x="260658" y="1151510"/>
            <a:ext cx="1074042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200" b="1" dirty="0"/>
              <a:t> Know what Inflammation is.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32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200" b="1" dirty="0"/>
              <a:t> Know the Cardinal Signs of Inflammation.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32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200" b="1" dirty="0"/>
              <a:t>Know the Types of Inflammation.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32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200" b="1" dirty="0"/>
              <a:t> Know what Acute Inflammation is and the vascular changes and cellular events that occur in it are.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32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200" b="1" dirty="0"/>
              <a:t>Know the four Outcomes of Acute Inflammation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8188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208AD-F5F2-A454-9B52-DC999DA4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025F53E8-C5D0-CCBD-FB2F-D88E025B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39AEB-BBAB-CB06-52F0-585F5A6B33EC}"/>
              </a:ext>
            </a:extLst>
          </p:cNvPr>
          <p:cNvSpPr txBox="1"/>
          <p:nvPr/>
        </p:nvSpPr>
        <p:spPr>
          <a:xfrm>
            <a:off x="2714920" y="-48932"/>
            <a:ext cx="644243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Introduction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0E620D-F538-C374-B015-25E9BFE6B4F6}"/>
              </a:ext>
            </a:extLst>
          </p:cNvPr>
          <p:cNvSpPr txBox="1"/>
          <p:nvPr/>
        </p:nvSpPr>
        <p:spPr>
          <a:xfrm>
            <a:off x="179353" y="1054612"/>
            <a:ext cx="119246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/>
              <a:t>Inflammation </a:t>
            </a:r>
            <a:r>
              <a:rPr lang="en-US" sz="4000" dirty="0"/>
              <a:t>is the </a:t>
            </a:r>
            <a:r>
              <a:rPr lang="en-US" sz="4000" b="1" dirty="0"/>
              <a:t>protective response </a:t>
            </a:r>
            <a:r>
              <a:rPr lang="en-US" sz="4000" dirty="0"/>
              <a:t>of vascularized tissues to </a:t>
            </a:r>
            <a:r>
              <a:rPr lang="en-US" sz="4000" b="1" dirty="0"/>
              <a:t>infection</a:t>
            </a:r>
            <a:r>
              <a:rPr lang="en-US" sz="4000" dirty="0"/>
              <a:t> and </a:t>
            </a:r>
            <a:r>
              <a:rPr lang="en-US" sz="4000" b="1" dirty="0"/>
              <a:t>tissue damage</a:t>
            </a:r>
            <a:r>
              <a:rPr lang="en-US" sz="4000" dirty="0"/>
              <a:t>. </a:t>
            </a:r>
          </a:p>
          <a:p>
            <a:pPr algn="l"/>
            <a:endParaRPr lang="en-US" sz="4000" dirty="0"/>
          </a:p>
          <a:p>
            <a:pPr algn="l"/>
            <a:r>
              <a:rPr lang="en-US" sz="4000" dirty="0"/>
              <a:t>It serves to bring </a:t>
            </a:r>
            <a:r>
              <a:rPr lang="en-US" sz="4000" b="1" dirty="0"/>
              <a:t>host defense cells </a:t>
            </a:r>
            <a:r>
              <a:rPr lang="en-US" sz="4000" dirty="0"/>
              <a:t>and </a:t>
            </a:r>
            <a:r>
              <a:rPr lang="en-US" sz="4000" b="1" dirty="0"/>
              <a:t>molecules</a:t>
            </a:r>
            <a:r>
              <a:rPr lang="en-US" sz="4000" dirty="0"/>
              <a:t> from the circulation to the site of injury to eliminate the offending agent.</a:t>
            </a:r>
          </a:p>
        </p:txBody>
      </p:sp>
    </p:spTree>
    <p:extLst>
      <p:ext uri="{BB962C8B-B14F-4D97-AF65-F5344CB8AC3E}">
        <p14:creationId xmlns:p14="http://schemas.microsoft.com/office/powerpoint/2010/main" val="3402314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1AB0-515C-B8B8-0C32-EB7A9AF7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2895571C-245C-B767-B334-0D5864D5B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579031-E74D-8E6A-94E8-25C88074346B}"/>
              </a:ext>
            </a:extLst>
          </p:cNvPr>
          <p:cNvSpPr txBox="1"/>
          <p:nvPr/>
        </p:nvSpPr>
        <p:spPr>
          <a:xfrm>
            <a:off x="848412" y="-48932"/>
            <a:ext cx="10299326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Cardinal Signs of Inflammation</a:t>
            </a:r>
          </a:p>
          <a:p>
            <a:pPr algn="ctr"/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4C222-53DF-3320-2DF3-254A1F88F1E8}"/>
              </a:ext>
            </a:extLst>
          </p:cNvPr>
          <p:cNvSpPr txBox="1"/>
          <p:nvPr/>
        </p:nvSpPr>
        <p:spPr>
          <a:xfrm>
            <a:off x="163098" y="1028286"/>
            <a:ext cx="113967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These signs are the clinical manifestations of the vascular and cellular changes:</a:t>
            </a:r>
          </a:p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Rubor (Redness): </a:t>
            </a:r>
            <a:r>
              <a:rPr lang="en-US" sz="2400" dirty="0"/>
              <a:t>Due to vasodilation and increased blood flow.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Calor (Heat): </a:t>
            </a:r>
            <a:r>
              <a:rPr lang="en-US" sz="2400" dirty="0"/>
              <a:t>Due to increased blood flow (hyperemia) and release of chemical mediators.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Tumor (Swelling): </a:t>
            </a:r>
            <a:r>
              <a:rPr lang="en-US" sz="2400" dirty="0"/>
              <a:t>Due to increased vascular permeability leading to fluid and protein leakage (edema/exudate).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Dolor (Pain): </a:t>
            </a:r>
            <a:r>
              <a:rPr lang="en-US" sz="2400" dirty="0"/>
              <a:t>Due to chemical mediators (like prostaglandins) stimulating nerve endings and pressure from edema.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 err="1"/>
              <a:t>Functio</a:t>
            </a:r>
            <a:r>
              <a:rPr lang="en-US" sz="2400" b="1" dirty="0"/>
              <a:t> </a:t>
            </a:r>
            <a:r>
              <a:rPr lang="en-US" sz="2400" b="1" dirty="0" err="1"/>
              <a:t>Laesa</a:t>
            </a:r>
            <a:r>
              <a:rPr lang="en-US" sz="2400" b="1" dirty="0"/>
              <a:t> (Loss of Function):</a:t>
            </a:r>
            <a:r>
              <a:rPr lang="en-US" sz="2400" dirty="0"/>
              <a:t> resulting from the combined effects of pain and swelling.</a:t>
            </a:r>
          </a:p>
        </p:txBody>
      </p:sp>
    </p:spTree>
    <p:extLst>
      <p:ext uri="{BB962C8B-B14F-4D97-AF65-F5344CB8AC3E}">
        <p14:creationId xmlns:p14="http://schemas.microsoft.com/office/powerpoint/2010/main" val="382042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E8BE-416A-2CDA-2940-65D54635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18C74B8C-231A-8850-1D21-520EC805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45CE9-79A3-378B-8634-F05D8F4C3684}"/>
              </a:ext>
            </a:extLst>
          </p:cNvPr>
          <p:cNvSpPr txBox="1"/>
          <p:nvPr/>
        </p:nvSpPr>
        <p:spPr>
          <a:xfrm>
            <a:off x="848412" y="-48932"/>
            <a:ext cx="10299326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Cardinal Signs of Inflammation</a:t>
            </a:r>
          </a:p>
          <a:p>
            <a:pPr algn="ctr"/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01565A-F501-E1A1-DE9D-C8F8FE141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8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A0A0-EE8E-F3B8-2B4A-C2DBA2F3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DEA6F025-B0ED-C09E-E7BD-C218FF5E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8D0FD7-EBD5-166B-4F1C-D80D4BA3BA2B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Types of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A092E-3897-60E3-732E-C1D7927BAF54}"/>
              </a:ext>
            </a:extLst>
          </p:cNvPr>
          <p:cNvSpPr txBox="1"/>
          <p:nvPr/>
        </p:nvSpPr>
        <p:spPr>
          <a:xfrm>
            <a:off x="151073" y="1031096"/>
            <a:ext cx="121163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Inflammation is broadly classified into:</a:t>
            </a:r>
            <a:endParaRPr lang="en-US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9D1979-B2DF-5F0F-34E9-98CC65352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660604"/>
              </p:ext>
            </p:extLst>
          </p:nvPr>
        </p:nvGraphicFramePr>
        <p:xfrm>
          <a:off x="426833" y="1793898"/>
          <a:ext cx="11142483" cy="4414761"/>
        </p:xfrm>
        <a:graphic>
          <a:graphicData uri="http://schemas.openxmlformats.org/drawingml/2006/table">
            <a:tbl>
              <a:tblPr/>
              <a:tblGrid>
                <a:gridCol w="3714161">
                  <a:extLst>
                    <a:ext uri="{9D8B030D-6E8A-4147-A177-3AD203B41FA5}">
                      <a16:colId xmlns:a16="http://schemas.microsoft.com/office/drawing/2014/main" val="2044815698"/>
                    </a:ext>
                  </a:extLst>
                </a:gridCol>
                <a:gridCol w="3714161">
                  <a:extLst>
                    <a:ext uri="{9D8B030D-6E8A-4147-A177-3AD203B41FA5}">
                      <a16:colId xmlns:a16="http://schemas.microsoft.com/office/drawing/2014/main" val="194236102"/>
                    </a:ext>
                  </a:extLst>
                </a:gridCol>
                <a:gridCol w="3714161">
                  <a:extLst>
                    <a:ext uri="{9D8B030D-6E8A-4147-A177-3AD203B41FA5}">
                      <a16:colId xmlns:a16="http://schemas.microsoft.com/office/drawing/2014/main" val="2731629298"/>
                    </a:ext>
                  </a:extLst>
                </a:gridCol>
              </a:tblGrid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b="1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Acute Inflammation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Chronic Inflammation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709889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Onset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Fast</a:t>
                      </a:r>
                      <a:r>
                        <a:rPr lang="en-US" sz="1800"/>
                        <a:t>: Minutes to hours.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Slow</a:t>
                      </a:r>
                      <a:r>
                        <a:rPr lang="en-US" sz="1800"/>
                        <a:t>: Days to years.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012285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Duration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Short-lived (hours to days).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Prolonged (weeks, months, years).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611249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Cellular Infiltrate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Primarily </a:t>
                      </a:r>
                      <a:r>
                        <a:rPr lang="en-US" sz="1800" b="1"/>
                        <a:t>Neutrophils</a:t>
                      </a:r>
                      <a:r>
                        <a:rPr lang="en-US" sz="1800"/>
                        <a:t> (PMNs).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Mononuclear Cells</a:t>
                      </a:r>
                      <a:r>
                        <a:rPr lang="en-US" sz="1800" dirty="0"/>
                        <a:t> (Macrophages, Lymphocytes, Plasma Cells).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463249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Tissue Injury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Usually </a:t>
                      </a:r>
                      <a:r>
                        <a:rPr lang="en-US" sz="1800" b="1"/>
                        <a:t>mild</a:t>
                      </a:r>
                      <a:r>
                        <a:rPr lang="en-US" sz="1800"/>
                        <a:t> and self-limited.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Often </a:t>
                      </a:r>
                      <a:r>
                        <a:rPr lang="en-US" sz="1800" b="1"/>
                        <a:t>severe and progressive</a:t>
                      </a:r>
                      <a:r>
                        <a:rPr lang="en-US" sz="1800"/>
                        <a:t>, simultaneous with attempts at repair.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819742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Fibrosis/Repair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Minimal/Absent; may progress to scarring only in severe cases.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Prominent</a:t>
                      </a:r>
                      <a:r>
                        <a:rPr lang="en-US" sz="1800"/>
                        <a:t>: Occurs concurrently with tissue destruction and inflammation (</a:t>
                      </a:r>
                      <a:r>
                        <a:rPr lang="en-US" sz="1800" b="1"/>
                        <a:t>Fibrosis</a:t>
                      </a:r>
                      <a:r>
                        <a:rPr lang="en-US" sz="1800"/>
                        <a:t>).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438112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Outcomes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1. </a:t>
                      </a:r>
                      <a:r>
                        <a:rPr lang="en-US" sz="1800" b="1"/>
                        <a:t>Complete Resolution</a:t>
                      </a:r>
                      <a:r>
                        <a:rPr lang="en-US" sz="1800"/>
                        <a:t> (Ideal) 2. Abscess Formation 3. Scarring (Fibrosis) 4. Progression to Chronic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Persistence, tissue destruction, and eventual </a:t>
                      </a:r>
                      <a:r>
                        <a:rPr lang="en-US" sz="1800" b="1" dirty="0"/>
                        <a:t>fibrosis/loss of function</a:t>
                      </a:r>
                      <a:r>
                        <a:rPr lang="en-US" sz="1800" dirty="0"/>
                        <a:t>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965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25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7B856-2866-DA5B-4F4B-CBBB5532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2072778E-B171-CC10-0EA9-F521305F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C95EF-D4CD-125C-D754-F57CF8459535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E8236-C97A-9C70-B430-E209A820E590}"/>
              </a:ext>
            </a:extLst>
          </p:cNvPr>
          <p:cNvSpPr txBox="1"/>
          <p:nvPr/>
        </p:nvSpPr>
        <p:spPr>
          <a:xfrm>
            <a:off x="151073" y="1031096"/>
            <a:ext cx="1211634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Acute inflammation </a:t>
            </a:r>
            <a:r>
              <a:rPr lang="en-US" sz="2400" dirty="0"/>
              <a:t>is the </a:t>
            </a:r>
            <a:r>
              <a:rPr lang="en-US" sz="2400" b="1" dirty="0"/>
              <a:t>initial</a:t>
            </a:r>
            <a:r>
              <a:rPr lang="en-US" sz="2400" dirty="0"/>
              <a:t>, </a:t>
            </a:r>
            <a:r>
              <a:rPr lang="en-US" sz="2400" b="1" dirty="0"/>
              <a:t>rapid</a:t>
            </a:r>
            <a:r>
              <a:rPr lang="en-US" sz="2400" dirty="0"/>
              <a:t>, and </a:t>
            </a:r>
            <a:r>
              <a:rPr lang="en-US" sz="2400" b="1" dirty="0"/>
              <a:t>short-lived response </a:t>
            </a:r>
            <a:r>
              <a:rPr lang="en-US" sz="2400" dirty="0"/>
              <a:t>to injury, lasting from </a:t>
            </a:r>
            <a:r>
              <a:rPr lang="en-US" sz="2400" b="1" dirty="0"/>
              <a:t>minutes</a:t>
            </a:r>
            <a:r>
              <a:rPr lang="en-US" sz="2400" dirty="0"/>
              <a:t> to a </a:t>
            </a:r>
            <a:r>
              <a:rPr lang="en-US" sz="2400" b="1" dirty="0"/>
              <a:t>few days</a:t>
            </a:r>
            <a:r>
              <a:rPr lang="en-US" sz="2400" dirty="0"/>
              <a:t>. Its primary goal is to deliver </a:t>
            </a:r>
            <a:r>
              <a:rPr lang="en-US" sz="2400" b="1" dirty="0"/>
              <a:t>white blood cells (leukocytes) </a:t>
            </a:r>
            <a:r>
              <a:rPr lang="en-US" sz="2400" dirty="0"/>
              <a:t>and </a:t>
            </a:r>
            <a:r>
              <a:rPr lang="en-US" sz="2400" b="1" dirty="0"/>
              <a:t>plasma proteins</a:t>
            </a:r>
            <a:r>
              <a:rPr lang="en-US" sz="2400" dirty="0"/>
              <a:t> to the site of injury.</a:t>
            </a:r>
          </a:p>
          <a:p>
            <a:endParaRPr lang="en-US" sz="2400" dirty="0"/>
          </a:p>
          <a:p>
            <a:r>
              <a:rPr lang="en-US" sz="2400" b="1" dirty="0"/>
              <a:t>Acute inflammation involves two main processes:</a:t>
            </a:r>
          </a:p>
          <a:p>
            <a:endParaRPr lang="en-US" sz="2400" b="1" dirty="0"/>
          </a:p>
          <a:p>
            <a:r>
              <a:rPr lang="en-US" sz="2400" b="1" dirty="0"/>
              <a:t>A-Vascular Changes:</a:t>
            </a:r>
          </a:p>
          <a:p>
            <a:endParaRPr lang="en-US" sz="2400" b="1" dirty="0"/>
          </a:p>
          <a:p>
            <a:r>
              <a:rPr lang="en-US" sz="2400" dirty="0"/>
              <a:t>1-Transient vasoconstriction followed rapidly by pronounced vasodilation.</a:t>
            </a:r>
          </a:p>
          <a:p>
            <a:endParaRPr lang="en-US" sz="2400" dirty="0"/>
          </a:p>
          <a:p>
            <a:r>
              <a:rPr lang="en-US" sz="2400" dirty="0"/>
              <a:t>2-Increased vascular permeability in post-capillary venules, leading to the formation of protein-rich exudate (tissue swelling/edema).</a:t>
            </a:r>
          </a:p>
          <a:p>
            <a:endParaRPr lang="en-US" sz="2400" dirty="0"/>
          </a:p>
          <a:p>
            <a:r>
              <a:rPr lang="en-US" sz="2400" dirty="0"/>
              <a:t>3-Stasis (slowing of blood flow) due to increased blood viscosity.</a:t>
            </a:r>
          </a:p>
        </p:txBody>
      </p:sp>
    </p:spTree>
    <p:extLst>
      <p:ext uri="{BB962C8B-B14F-4D97-AF65-F5344CB8AC3E}">
        <p14:creationId xmlns:p14="http://schemas.microsoft.com/office/powerpoint/2010/main" val="356982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9D9C2-26FA-7545-A888-77633F74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6CC3B2B0-C0EF-998A-6EE8-8DFCAE82B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C5CDD4-5551-92CF-0D0D-0AACF2D09F8E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989B5-FA8F-B97B-24FC-BFB077756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94" y="1162245"/>
            <a:ext cx="10515601" cy="532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1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F8BC-C640-0D23-66A2-367BE71E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3402274F-725F-4D6A-37A5-FE5B58F7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93EB2-43F4-F5D7-3D7D-0AE68E643510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B69F9-DF29-8FB3-E535-759EB2C69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38" y="1198431"/>
            <a:ext cx="10711450" cy="530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7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C136-E269-39D0-E010-012016E3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F44EAE83-9274-6038-55C9-E09CC8B1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79566-2F64-09C6-9F1C-A80C3D46DA70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7961D-5C67-7325-FBC7-3409B406DE16}"/>
              </a:ext>
            </a:extLst>
          </p:cNvPr>
          <p:cNvSpPr txBox="1"/>
          <p:nvPr/>
        </p:nvSpPr>
        <p:spPr>
          <a:xfrm>
            <a:off x="75658" y="1097083"/>
            <a:ext cx="1211634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B-Cellular Events (Leukocyte Recruitment):</a:t>
            </a:r>
          </a:p>
          <a:p>
            <a:endParaRPr lang="en-US" sz="2800" b="1" dirty="0"/>
          </a:p>
          <a:p>
            <a:r>
              <a:rPr lang="en-US" sz="2800" dirty="0"/>
              <a:t>1-Margination and Rolling of leukocytes along the endothelium.</a:t>
            </a:r>
          </a:p>
          <a:p>
            <a:endParaRPr lang="en-US" sz="2800" dirty="0"/>
          </a:p>
          <a:p>
            <a:r>
              <a:rPr lang="en-US" sz="2800" dirty="0"/>
              <a:t>2-Adhesion (firm attachment) mediated by integrins and adhesion molecules.</a:t>
            </a:r>
          </a:p>
          <a:p>
            <a:endParaRPr lang="en-US" sz="2800" dirty="0"/>
          </a:p>
          <a:p>
            <a:r>
              <a:rPr lang="en-US" sz="2800" dirty="0"/>
              <a:t>3-Transmigration (Diapedesis) through the endothelial wall into the extravascular tissue.</a:t>
            </a:r>
          </a:p>
          <a:p>
            <a:endParaRPr lang="en-US" sz="2800" dirty="0"/>
          </a:p>
          <a:p>
            <a:r>
              <a:rPr lang="en-US" sz="2800" dirty="0"/>
              <a:t>4-Chemotaxis (migration along a chemical gradient) to the site of injury.</a:t>
            </a:r>
          </a:p>
          <a:p>
            <a:endParaRPr lang="en-US" sz="2800" dirty="0"/>
          </a:p>
          <a:p>
            <a:r>
              <a:rPr lang="en-US" sz="2800" dirty="0"/>
              <a:t>5-Phagocytosis (engulfment and destruction of the injurious agent).</a:t>
            </a:r>
          </a:p>
        </p:txBody>
      </p:sp>
    </p:spTree>
    <p:extLst>
      <p:ext uri="{BB962C8B-B14F-4D97-AF65-F5344CB8AC3E}">
        <p14:creationId xmlns:p14="http://schemas.microsoft.com/office/powerpoint/2010/main" val="573186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5152-80DF-8E16-D8F5-2F8093AC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A1B6D5C5-FFA0-0800-C001-10BBC888F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871EC-7031-4C9B-DD7D-CDBB2DB95E2E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1DED7E-B66A-821B-C5DD-503779B20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49" y="984774"/>
            <a:ext cx="9671901" cy="545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62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E2E4-E3BC-07FC-9859-C05E6F94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A7F0A913-9377-D608-8250-511D894C8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A2C975-5258-3082-CCAD-0BE575A0721A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375CA9-8EBC-6933-DEDC-1D6B98FF1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491" y="0"/>
            <a:ext cx="12226491" cy="653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18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6A352-7DC5-8BAD-E677-94BCAF908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3E8ED934-1772-AB1E-302B-D64DCFC6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50695-6A2A-BE26-F335-F05EEA65C30E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04F82B-0C6A-2B4F-1A58-0CD4BA3AD7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4" r="50000"/>
          <a:stretch>
            <a:fillRect/>
          </a:stretch>
        </p:blipFill>
        <p:spPr>
          <a:xfrm>
            <a:off x="1989646" y="952106"/>
            <a:ext cx="8016858" cy="57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8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ADBF-6C55-43A0-5A39-B9842830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F0F2DE33-89C1-3634-F594-B0781D46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9C782-155F-874E-8A33-B17E71F4257D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2C5F4A-3FA9-5DBA-02CE-AD40925F7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88" y="923826"/>
            <a:ext cx="10395109" cy="4741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B3993-49B4-81D4-A5E0-B14C257E3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290" y="5899330"/>
            <a:ext cx="5429250" cy="2952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A37963-DA15-21D4-66A7-7E1CFAA33F56}"/>
              </a:ext>
            </a:extLst>
          </p:cNvPr>
          <p:cNvSpPr/>
          <p:nvPr/>
        </p:nvSpPr>
        <p:spPr>
          <a:xfrm>
            <a:off x="7418894" y="6034349"/>
            <a:ext cx="1187777" cy="1602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80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FB7DF-BA7E-3D5F-8AF0-5913BAD0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5B635FF0-BE38-A592-D411-EB3DFC57F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E29D1-84C9-CEB6-4B63-203FD3CB4C57}"/>
              </a:ext>
            </a:extLst>
          </p:cNvPr>
          <p:cNvSpPr txBox="1"/>
          <p:nvPr/>
        </p:nvSpPr>
        <p:spPr>
          <a:xfrm>
            <a:off x="848412" y="-48932"/>
            <a:ext cx="1029932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6467C0-4FBF-0BC3-490B-A270B8C8C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38" y="1200838"/>
            <a:ext cx="10624640" cy="408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20F877-2553-D9EE-5209-39AF89E42319}"/>
              </a:ext>
            </a:extLst>
          </p:cNvPr>
          <p:cNvSpPr txBox="1"/>
          <p:nvPr/>
        </p:nvSpPr>
        <p:spPr>
          <a:xfrm>
            <a:off x="1699181" y="5392885"/>
            <a:ext cx="81005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Nature of leukocyte infiltrates in inflammatory reactions. The photomicrographs show an inflammatory reaction in the myocardium after ischemic</a:t>
            </a:r>
          </a:p>
          <a:p>
            <a:r>
              <a:rPr lang="en-US" sz="1200" dirty="0"/>
              <a:t>necrosis (infarction). (A) Early (neutrophilic) infiltrates and congested blood vessels. (B) Later (mononuclear) cellular infiltrates. (C) The approximate kinetics</a:t>
            </a:r>
          </a:p>
          <a:p>
            <a:r>
              <a:rPr lang="en-US" sz="1200" dirty="0"/>
              <a:t>of edema and cellular infiltration.</a:t>
            </a:r>
          </a:p>
        </p:txBody>
      </p:sp>
    </p:spTree>
    <p:extLst>
      <p:ext uri="{BB962C8B-B14F-4D97-AF65-F5344CB8AC3E}">
        <p14:creationId xmlns:p14="http://schemas.microsoft.com/office/powerpoint/2010/main" val="4027715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F37AA-04D0-2CD5-9CB7-1773F801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002B6F96-8341-5DE8-0C39-32B1705A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232A1-7F8A-C487-6355-2076937D2340}"/>
              </a:ext>
            </a:extLst>
          </p:cNvPr>
          <p:cNvSpPr txBox="1"/>
          <p:nvPr/>
        </p:nvSpPr>
        <p:spPr>
          <a:xfrm>
            <a:off x="848412" y="-48932"/>
            <a:ext cx="102993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Four Outcomes of 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DE65E-EB9B-3377-1CB8-A63B3D3A70A5}"/>
              </a:ext>
            </a:extLst>
          </p:cNvPr>
          <p:cNvSpPr txBox="1"/>
          <p:nvPr/>
        </p:nvSpPr>
        <p:spPr>
          <a:xfrm>
            <a:off x="108707" y="2181428"/>
            <a:ext cx="110390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1-Complete Resolution: </a:t>
            </a:r>
            <a:r>
              <a:rPr lang="en-US" sz="2000" dirty="0"/>
              <a:t>This is the ideal outcome and involves the complete restoration of the inflamed tissue to a state of normal structure and function.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DF0272-1F49-08B4-71B8-797E5C1FB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62" y="3074795"/>
            <a:ext cx="9890831" cy="358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14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21E05-0BE1-D47D-B18E-6B8673897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495BA30C-C076-D82E-EA3B-C1666D5B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BA9AF-9BDB-614D-2D47-F9F3FDD22276}"/>
              </a:ext>
            </a:extLst>
          </p:cNvPr>
          <p:cNvSpPr txBox="1"/>
          <p:nvPr/>
        </p:nvSpPr>
        <p:spPr>
          <a:xfrm>
            <a:off x="848412" y="-48932"/>
            <a:ext cx="102993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Four Outcomes of 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275CA-AD2A-AB52-382C-F52B1CA3FB09}"/>
              </a:ext>
            </a:extLst>
          </p:cNvPr>
          <p:cNvSpPr txBox="1"/>
          <p:nvPr/>
        </p:nvSpPr>
        <p:spPr>
          <a:xfrm>
            <a:off x="108707" y="2181428"/>
            <a:ext cx="110390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2-Healing by Connective Tissue Replacement (Fibrosis/Scarring)</a:t>
            </a:r>
            <a:r>
              <a:rPr lang="en-US" sz="2000" dirty="0"/>
              <a:t> If the tissue structure is significantly destroyed and the native cells cannot regenerate, the damaged area is replaced by connective tissue, resulting in a scar.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B2C33D-5E33-F02D-9D2C-537457B148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19"/>
          <a:stretch>
            <a:fillRect/>
          </a:stretch>
        </p:blipFill>
        <p:spPr>
          <a:xfrm>
            <a:off x="2742414" y="2873926"/>
            <a:ext cx="6858000" cy="382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93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684C-9D6F-BDF3-0F28-45B6D7955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41966AF8-C112-E101-03E3-48F368D8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44EA0-B6D0-9A4C-5C7D-EAAC94AA4770}"/>
              </a:ext>
            </a:extLst>
          </p:cNvPr>
          <p:cNvSpPr txBox="1"/>
          <p:nvPr/>
        </p:nvSpPr>
        <p:spPr>
          <a:xfrm>
            <a:off x="848412" y="-48932"/>
            <a:ext cx="102993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Four Outcomes of 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9C0FB-F3E8-3DDA-3F8A-05A3081482CF}"/>
              </a:ext>
            </a:extLst>
          </p:cNvPr>
          <p:cNvSpPr txBox="1"/>
          <p:nvPr/>
        </p:nvSpPr>
        <p:spPr>
          <a:xfrm>
            <a:off x="108707" y="2181428"/>
            <a:ext cx="110390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3-Abscess Formation (Suppuration):</a:t>
            </a:r>
            <a:r>
              <a:rPr lang="en-US" sz="2000" dirty="0"/>
              <a:t>An abscess is a localized collection of pus in a tissue or organ, which is a specific pattern of acute inflammation. Typically caused by infection with pyogenic bacteria (pus-forming, e.g., Staphylococcus aureus), where extensive liquefactive necrosis occurs.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7206C-42F9-2D60-A88B-3185775C3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753" y="3504867"/>
            <a:ext cx="3970354" cy="2650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F28CB-8655-42C1-4ED3-CB3DCB2BC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669" y="3297025"/>
            <a:ext cx="3377780" cy="330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00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3528-7D09-932E-C627-621427331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نوان 5">
            <a:extLst>
              <a:ext uri="{FF2B5EF4-FFF2-40B4-BE49-F238E27FC236}">
                <a16:creationId xmlns:a16="http://schemas.microsoft.com/office/drawing/2014/main" id="{C3C1B4B4-9860-D735-E2AF-49E5E526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62" y="1305285"/>
            <a:ext cx="10515600" cy="214424"/>
          </a:xfrm>
        </p:spPr>
        <p:txBody>
          <a:bodyPr>
            <a:normAutofit fontScale="90000"/>
          </a:bodyPr>
          <a:lstStyle/>
          <a:p>
            <a:pPr algn="ctr" rtl="0"/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endParaRPr lang="ar-IQ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2E704-CCC8-8BD5-470C-2F3A1FFC80B0}"/>
              </a:ext>
            </a:extLst>
          </p:cNvPr>
          <p:cNvSpPr txBox="1"/>
          <p:nvPr/>
        </p:nvSpPr>
        <p:spPr>
          <a:xfrm>
            <a:off x="848412" y="-48932"/>
            <a:ext cx="102993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rgbClr val="00B0F0"/>
                </a:solidFill>
                <a:latin typeface="Barlow Semi Condensed" panose="00000506000000000000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The Four Outcomes of Acute Inflammation</a:t>
            </a:r>
            <a:br>
              <a:rPr lang="en-US" sz="4000" b="1" dirty="0">
                <a:solidFill>
                  <a:srgbClr val="00B0F0"/>
                </a:solidFill>
                <a:latin typeface="Bahnschrift SemiBold SemiConden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</a:rPr>
            </a:br>
            <a:endParaRPr lang="ar-IQ" sz="1400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2CD48-537D-4D58-D009-176E85AAE942}"/>
              </a:ext>
            </a:extLst>
          </p:cNvPr>
          <p:cNvSpPr txBox="1"/>
          <p:nvPr/>
        </p:nvSpPr>
        <p:spPr>
          <a:xfrm>
            <a:off x="108707" y="2181428"/>
            <a:ext cx="110390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4-Progression to Chronic Inflammation:</a:t>
            </a:r>
            <a:r>
              <a:rPr lang="en-US" sz="2000" dirty="0"/>
              <a:t> When the acute response fails to eliminate the injurious stimulus, the inflammation can persist and evolve into a prolonged process (weeks to years).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A552D9-C872-92D8-1AF6-7ECDDB1060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67" b="4181"/>
          <a:stretch>
            <a:fillRect/>
          </a:stretch>
        </p:blipFill>
        <p:spPr>
          <a:xfrm>
            <a:off x="2931735" y="3167332"/>
            <a:ext cx="5288903" cy="319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05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DE988-B918-46E7-8630-39C72EC84C94}" type="slidenum">
              <a:rPr lang="en-US" smtClean="0"/>
              <a:t>20</a:t>
            </a:fld>
            <a:endParaRPr lang="en-US"/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50D327A8-1568-F1DF-6936-2B972B072C3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6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32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6254</TotalTime>
  <Words>858</Words>
  <Application>Microsoft Office PowerPoint</Application>
  <PresentationFormat>Widescreen</PresentationFormat>
  <Paragraphs>139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Abhaya Libre ExtraBold</vt:lpstr>
      <vt:lpstr>Arial</vt:lpstr>
      <vt:lpstr>Bahnschrift SemiBold SemiConden</vt:lpstr>
      <vt:lpstr>Barlow Semi Condensed</vt:lpstr>
      <vt:lpstr>Calibri</vt:lpstr>
      <vt:lpstr>Calibri Light</vt:lpstr>
      <vt:lpstr>Wingdings</vt:lpstr>
      <vt:lpstr>Office Theme</vt:lpstr>
      <vt:lpstr>PowerPoint Presentation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PowerPoint Presentation</vt:lpstr>
    </vt:vector>
  </TitlesOfParts>
  <Company>Microsoft (C)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ASUS</dc:creator>
  <cp:lastModifiedBy>ahmed hussain</cp:lastModifiedBy>
  <cp:revision>1028</cp:revision>
  <cp:lastPrinted>2021-08-25T11:28:27Z</cp:lastPrinted>
  <dcterms:created xsi:type="dcterms:W3CDTF">2021-08-24T05:21:55Z</dcterms:created>
  <dcterms:modified xsi:type="dcterms:W3CDTF">2025-10-18T15:17:43Z</dcterms:modified>
</cp:coreProperties>
</file>
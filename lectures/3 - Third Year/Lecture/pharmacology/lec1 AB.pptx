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9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300" r:id="rId19"/>
    <p:sldId id="274" r:id="rId20"/>
    <p:sldId id="275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1" d="100"/>
          <a:sy n="91" d="100"/>
        </p:scale>
        <p:origin x="322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5-12-07T07:17:26.0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394 328,'28'2,"-1"1,0 1,41 12,7 1,791 120,-249-89,-318-32,655 0,-620-19,155-36,-197 9,-162 14,150-38,40-6,-185 46,75-11,-151 17,0 2,103 4,17-1,-135-2,52-13,-62 11,1 0,68-3,-90 10,1 0,-1 0,1 2,-1-1,0 2,0-1,0 2,21 8,40 17,-51-21,0 1,38 21,-33-14,48 18,5 2,-60-26,-1-2,34 9,-34-11,1 1,35 17,-26-9,-21-11,0 1,0-1,-1 1,0 1,0-1,8 9,-14-12,0 1,1 0,-2 0,1-1,0 1,-1 1,1-1,-1 0,0 0,0 0,0 1,0-1,-1 1,0-1,1 0,-1 1,0-1,-1 1,1-1,0 1,-3 5,0 2,-1 0,-1 0,1-1,-2 0,1 0,-2 0,1-1,-1 0,0 0,-1-1,0 0,-1 0,-10 7,-15 10,-1-1,-45 22,44-28,-1-2,-1-2,0-1,-75 14,-43-7,-6 1,110-13,1-3,-1-2,0-3,0-1,-71-13,90 10,-14-2,-79-21,-315-67,341 77,-74-11,-104-20,204 35,-122-5,141 15,-452-29,384 23,-66-3,-455 10,327 3,-6 24,127-5,100-10,-96 23,-93 35,-145 27,120-39,148-23,-187 26,213-38,112-16,12-2,0 0,0-1,0-1,-21 1,31-2,1 0,-1-1,1 1,0 0,-1-1,1 1,-1 0,1-1,-1 0,1 1,0-1,0 0,-1 0,1 0,0 0,0 0,0 0,-2-1,3 0,-1 1,0-1,1 0,-1 0,1 1,0-1,-1 0,1 0,0 0,0 1,0-1,0 0,1 0,-1 0,0 1,1-1,-1 0,2-3,6-12,1 0,1 0,0 1,1 1,1-1,18-18,5-7,43-73,-12 17,-60 88,-1-1,0 1,8-20,-10 20,1 0,0 0,0 0,1 1,8-10,-1 1,0 0,-1-1,9-21,9-14,-25 49,-1-1,1 1,0 0,0 0,0 1,1-1,-1 1,1 0,0 0,0 0,0 1,0-1,7-1,11-3,41-7,-54 12,230-30,-119 18,295-36,730-108,-731 97,-162 27,-13 19,-120 11,-16-6,-59 4,46 0,24 5,128 4,-214 1,-2 1,1 1,31 11,11 3,584 156,-357-78,-275-91,0-2,1 0,32 2,-28-4,51 12,-44-7,-1 0,1-3,48 2,103-7,6 0,-56 14,-61-4,-9 0,-38-5,43 2,-67-7,1 0,-1 0,1 1,-1-1,1 1,-1 0,0-1,1 2,-1-1,0 0,0 1,1-1,-1 1,4 3,-5-3,0 0,-1 1,1-1,-1 1,1-1,-1 1,0 0,0-1,0 1,0 0,0 0,0 0,-1 0,0-1,1 1,-1 0,0 0,-1 3,0 3,0-1,0 0,-1 0,0 0,-1 0,0 0,0 0,-1-1,0 1,0-1,-7 9,-9 10,-37 36,34-38,-9 7,-2-1,0-1,-2-2,-2-2,0-1,-58 26,-7-5,-151 43,-412 73,601-151,-1-3,-95-2,-132-21,155 6,67 4,-1-4,-95-26,155 33,-132-39,127 36,-16-7,-1 1,0 2,-1 1,-56-7,-16 14,57 2,-55-8,-40-4,-221 8,201 6,9-2,-434 14,473-6,-90 9,59-10,49-4,17 8,55-6,-47 2,-18-8,72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AF59C8-252F-44C2-955C-4B5EF91D68BC}" type="datetimeFigureOut">
              <a:rPr lang="en-AE" smtClean="0"/>
              <a:t>07/02/2026</a:t>
            </a:fld>
            <a:endParaRPr lang="en-A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954A62-56E5-4CF2-B79C-0C7AE68BF0DE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873566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6818F3-DC47-42C9-8282-D3CFF72BE67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8138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96818F3-DC47-42C9-8282-D3CFF72BE676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3851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C43BAE-7045-4EE2-8198-CD1A514B3C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DA0F30-91AD-4C7B-BA5B-E66B1E121E2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A68F2-5EFF-493A-9D2A-F9A18A6D8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4D9-90DC-457D-AF38-C2506EBFEADE}" type="datetimeFigureOut">
              <a:rPr lang="en-AE" smtClean="0"/>
              <a:t>07/02/2026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909ADD-F2CF-4D72-A7E2-B34A16300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531B43-A51C-4CD2-B5CC-E126EC26E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85B2-9E9A-4F3F-AE08-E13958322AB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276108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CC523-BC4C-4117-A679-56013DBEA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0D29D7-64A3-45D9-B2F3-6BF967C86F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154FD3-54F4-4C59-8FAD-FF32535243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4D9-90DC-457D-AF38-C2506EBFEADE}" type="datetimeFigureOut">
              <a:rPr lang="en-AE" smtClean="0"/>
              <a:t>07/02/2026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CECE47-F9C8-4515-B219-D4293EE76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17589-8D7E-48FE-AB73-635D0BFF55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85B2-9E9A-4F3F-AE08-E13958322AB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98966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2E41F-1558-45B7-AE50-91BC86442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932D33-1E86-4D91-96B8-CC0BF1B4E0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56CBF-51BD-4658-A027-E7A108BCA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4D9-90DC-457D-AF38-C2506EBFEADE}" type="datetimeFigureOut">
              <a:rPr lang="en-AE" smtClean="0"/>
              <a:t>07/02/2026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B56E78-5D7F-4CB3-8CE8-206C6C45E9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2B0074-873D-479F-BDD9-208CBA10F0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85B2-9E9A-4F3F-AE08-E13958322AB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32230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4369B3-7F62-4079-BB41-7C6731A0E9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826948-2B68-4487-9A24-6607BABBB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A03710-F38A-46D4-B35A-3DF2CC9506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8639E7-04F5-4B4B-AA71-967089583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4D9-90DC-457D-AF38-C2506EBFEADE}" type="datetimeFigureOut">
              <a:rPr lang="en-AE" smtClean="0"/>
              <a:t>07/02/2026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12F082-4C8A-46CF-A7BC-023A487FDE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40FA95-0743-4D4C-8353-F04462DE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85B2-9E9A-4F3F-AE08-E13958322AB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2885863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5EE023-ADFF-4985-803C-44EF2DBC8F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9AF349-744F-44EC-922A-CD08E36644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B47DAA-241D-4698-9B7C-7549D812D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30FFC1-3EFA-4B35-8BB3-19D7D39ABB5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308A2E-8DB7-4565-8F6E-A70CCE5CC4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F17062F-A265-4891-9F96-0A8EA3356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4D9-90DC-457D-AF38-C2506EBFEADE}" type="datetimeFigureOut">
              <a:rPr lang="en-AE" smtClean="0"/>
              <a:t>07/02/2026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32BFE4-67FA-40A1-B507-22BF3733C5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FBC824F-9B01-4FC0-B692-65F7BA069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85B2-9E9A-4F3F-AE08-E13958322AB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80161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46936-6B8B-4271-947B-D3EBF59F9D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4D8B1-284B-4550-838F-8E2601C5AD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4D9-90DC-457D-AF38-C2506EBFEADE}" type="datetimeFigureOut">
              <a:rPr lang="en-AE" smtClean="0"/>
              <a:t>07/02/2026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E4C5084-A3C6-4EA6-83CB-554C9E62AB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D681D03-AEDE-41F4-82A0-2BC4D368B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85B2-9E9A-4F3F-AE08-E13958322AB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865940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DF86CD-06C7-45A3-89D3-83C5A42D0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4D9-90DC-457D-AF38-C2506EBFEADE}" type="datetimeFigureOut">
              <a:rPr lang="en-AE" smtClean="0"/>
              <a:t>07/02/2026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C02FEB-3C5E-4154-8134-D5056E2A0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C6255B-A8DD-4A9B-8622-88C8D6FCED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85B2-9E9A-4F3F-AE08-E13958322AB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22635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54DB2-30B9-406A-9FE5-A1B869D04A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EFA8D5-9A79-4DFE-9728-05A82186AA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13BEF5-DAAF-4367-BE5B-3B0D5E2AC2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EFE811-8438-4CF6-8F38-8EDC6D770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4D9-90DC-457D-AF38-C2506EBFEADE}" type="datetimeFigureOut">
              <a:rPr lang="en-AE" smtClean="0"/>
              <a:t>07/02/2026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FE0C6C-CF8C-432E-A1F0-55C0CE3222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23EDE6-4A7B-41CD-A2E8-E6894C48D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85B2-9E9A-4F3F-AE08-E13958322AB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9739949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841247-5118-43B2-8AAA-8619633548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7D0F4E3-13DE-4115-82D9-7079007AA50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E7BEFC-D9FE-4E43-BFCB-3D92515E9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EC1934-B5AD-405D-95D6-0C4ED3975A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4D9-90DC-457D-AF38-C2506EBFEADE}" type="datetimeFigureOut">
              <a:rPr lang="en-AE" smtClean="0"/>
              <a:t>07/02/2026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EEAE4F-C7C1-48BA-910B-CAB7E5067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94B9768-96C9-4657-AC88-25222C44E0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85B2-9E9A-4F3F-AE08-E13958322AB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51868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BA868-612B-4F18-8CEC-798DE96B09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74BB17-678B-4661-BF64-664734446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6C1E0C-7765-41BF-91AC-E2F666F4D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4D9-90DC-457D-AF38-C2506EBFEADE}" type="datetimeFigureOut">
              <a:rPr lang="en-AE" smtClean="0"/>
              <a:t>07/02/2026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154105-3BE3-4B87-B1D7-75F303FAC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B7A5B-6F08-4B3A-875D-AFDFB4A9A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85B2-9E9A-4F3F-AE08-E13958322AB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9344431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19ED380-2929-4817-BE5E-5A1B7FA6D89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12DED7-2DC0-457F-8E6F-05606BE933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61D87-6748-49D8-A490-ED8180558D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01B4D9-90DC-457D-AF38-C2506EBFEADE}" type="datetimeFigureOut">
              <a:rPr lang="en-AE" smtClean="0"/>
              <a:t>07/02/2026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472E05-2606-46C6-8E6D-315849A98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4027D9-BBE7-4C6F-AA8C-37049F188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5E85B2-9E9A-4F3F-AE08-E13958322AB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760748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9BD37006-8F66-46A5-B35B-07BFFEC4D01C}"/>
              </a:ext>
            </a:extLst>
          </p:cNvPr>
          <p:cNvSpPr/>
          <p:nvPr userDrawn="1"/>
        </p:nvSpPr>
        <p:spPr>
          <a:xfrm>
            <a:off x="0" y="94391"/>
            <a:ext cx="12192000" cy="6583760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6854FF55-0AFA-4BB2-884C-4B009B46DE62}"/>
              </a:ext>
            </a:extLst>
          </p:cNvPr>
          <p:cNvSpPr/>
          <p:nvPr userDrawn="1"/>
        </p:nvSpPr>
        <p:spPr>
          <a:xfrm>
            <a:off x="0" y="6678151"/>
            <a:ext cx="12192000" cy="1798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F9E5346-3695-4602-97A3-0B8A9C80BF09}"/>
              </a:ext>
            </a:extLst>
          </p:cNvPr>
          <p:cNvSpPr/>
          <p:nvPr userDrawn="1"/>
        </p:nvSpPr>
        <p:spPr>
          <a:xfrm>
            <a:off x="0" y="873483"/>
            <a:ext cx="12192000" cy="5347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D2BD3CA-D5FA-4EEE-91F0-759E0773F6EE}"/>
              </a:ext>
            </a:extLst>
          </p:cNvPr>
          <p:cNvSpPr/>
          <p:nvPr userDrawn="1"/>
        </p:nvSpPr>
        <p:spPr>
          <a:xfrm>
            <a:off x="0" y="-70703"/>
            <a:ext cx="12192000" cy="1798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Arrow: Pentagon 39">
            <a:extLst>
              <a:ext uri="{FF2B5EF4-FFF2-40B4-BE49-F238E27FC236}">
                <a16:creationId xmlns:a16="http://schemas.microsoft.com/office/drawing/2014/main" id="{5DC1B17A-42E5-4827-B5BE-2670B557C295}"/>
              </a:ext>
            </a:extLst>
          </p:cNvPr>
          <p:cNvSpPr/>
          <p:nvPr userDrawn="1"/>
        </p:nvSpPr>
        <p:spPr>
          <a:xfrm flipH="1">
            <a:off x="11122428" y="6221161"/>
            <a:ext cx="1069569" cy="456988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Slide Number Placeholder 5">
            <a:extLst>
              <a:ext uri="{FF2B5EF4-FFF2-40B4-BE49-F238E27FC236}">
                <a16:creationId xmlns:a16="http://schemas.microsoft.com/office/drawing/2014/main" id="{41CCE111-59C4-4620-A682-7B71FC50DA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4815" y="6267091"/>
            <a:ext cx="573865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3F5378"/>
                </a:solidFill>
              </a:defRPr>
            </a:lvl1pPr>
          </a:lstStyle>
          <a:p>
            <a:fld id="{A0EDFBC5-9E83-48A9-A20F-CEAD086DBFA3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6" name="Arrow: Pentagon 45">
            <a:extLst>
              <a:ext uri="{FF2B5EF4-FFF2-40B4-BE49-F238E27FC236}">
                <a16:creationId xmlns:a16="http://schemas.microsoft.com/office/drawing/2014/main" id="{8244B392-AC48-4B2D-BF49-8459840DE26F}"/>
              </a:ext>
            </a:extLst>
          </p:cNvPr>
          <p:cNvSpPr/>
          <p:nvPr userDrawn="1"/>
        </p:nvSpPr>
        <p:spPr>
          <a:xfrm rot="10800000" flipH="1">
            <a:off x="272754" y="6221603"/>
            <a:ext cx="1465179" cy="456988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Date Placeholder 3">
            <a:extLst>
              <a:ext uri="{FF2B5EF4-FFF2-40B4-BE49-F238E27FC236}">
                <a16:creationId xmlns:a16="http://schemas.microsoft.com/office/drawing/2014/main" id="{D801F2CC-04D6-48E5-9020-23F53EF7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71673" y="6267091"/>
            <a:ext cx="1200599" cy="365125"/>
          </a:xfrm>
          <a:prstGeom prst="rect">
            <a:avLst/>
          </a:prstGeom>
          <a:ln>
            <a:noFill/>
          </a:ln>
        </p:spPr>
        <p:txBody>
          <a:bodyPr/>
          <a:lstStyle>
            <a:lvl1pPr>
              <a:defRPr>
                <a:solidFill>
                  <a:srgbClr val="3F5378"/>
                </a:solidFill>
              </a:defRPr>
            </a:lvl1pPr>
          </a:lstStyle>
          <a:p>
            <a:r>
              <a:rPr lang="en-US" dirty="0"/>
              <a:t>2020-2021</a:t>
            </a:r>
          </a:p>
        </p:txBody>
      </p:sp>
      <p:sp>
        <p:nvSpPr>
          <p:cNvPr id="14" name="Google Shape;79;p5">
            <a:extLst>
              <a:ext uri="{FF2B5EF4-FFF2-40B4-BE49-F238E27FC236}">
                <a16:creationId xmlns:a16="http://schemas.microsoft.com/office/drawing/2014/main" id="{5668860F-19A7-4440-A20F-147FDD68D328}"/>
              </a:ext>
            </a:extLst>
          </p:cNvPr>
          <p:cNvSpPr txBox="1">
            <a:spLocks noGrp="1"/>
          </p:cNvSpPr>
          <p:nvPr>
            <p:ph type="body" idx="1" hasCustomPrompt="1"/>
          </p:nvPr>
        </p:nvSpPr>
        <p:spPr>
          <a:xfrm>
            <a:off x="529205" y="1006453"/>
            <a:ext cx="11549475" cy="5080789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marL="76200" lvl="0" indent="0" algn="l">
              <a:spcBef>
                <a:spcPts val="600"/>
              </a:spcBef>
              <a:spcAft>
                <a:spcPts val="0"/>
              </a:spcAft>
              <a:buSzPts val="2400"/>
              <a:buNone/>
              <a:defRPr>
                <a:solidFill>
                  <a:srgbClr val="3F5378"/>
                </a:solidFill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r>
              <a:rPr lang="en-US" b="1" dirty="0"/>
              <a:t>Details</a:t>
            </a:r>
            <a:endParaRPr lang="ar-SA" b="1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66B8A655-DD86-4892-BF52-16BCF5CF8635}"/>
              </a:ext>
            </a:extLst>
          </p:cNvPr>
          <p:cNvGrpSpPr/>
          <p:nvPr userDrawn="1"/>
        </p:nvGrpSpPr>
        <p:grpSpPr>
          <a:xfrm>
            <a:off x="1806341" y="6265210"/>
            <a:ext cx="2557587" cy="380661"/>
            <a:chOff x="2786710" y="4680483"/>
            <a:chExt cx="2557587" cy="383285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87DF495-839D-4469-A05A-62B06DF5E663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duotone>
                <a:schemeClr val="accent5">
                  <a:shade val="45000"/>
                  <a:satMod val="135000"/>
                </a:schemeClr>
                <a:prstClr val="white"/>
              </a:duotone>
            </a:blip>
            <a:stretch>
              <a:fillRect/>
            </a:stretch>
          </p:blipFill>
          <p:spPr>
            <a:xfrm>
              <a:off x="2786710" y="4680483"/>
              <a:ext cx="383285" cy="383285"/>
            </a:xfrm>
            <a:prstGeom prst="rect">
              <a:avLst/>
            </a:prstGeom>
          </p:spPr>
        </p:pic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FFAC5E4D-8A74-4B7A-BC54-8C3B3FDC97E6}"/>
                </a:ext>
              </a:extLst>
            </p:cNvPr>
            <p:cNvGrpSpPr/>
            <p:nvPr userDrawn="1"/>
          </p:nvGrpSpPr>
          <p:grpSpPr>
            <a:xfrm>
              <a:off x="3169389" y="4741323"/>
              <a:ext cx="2174908" cy="263413"/>
              <a:chOff x="6463381" y="4741323"/>
              <a:chExt cx="2174908" cy="263413"/>
            </a:xfrm>
          </p:grpSpPr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400AE3C-6492-4126-84CA-9B14F862593C}"/>
                  </a:ext>
                </a:extLst>
              </p:cNvPr>
              <p:cNvSpPr txBox="1"/>
              <p:nvPr userDrawn="1"/>
            </p:nvSpPr>
            <p:spPr>
              <a:xfrm>
                <a:off x="6463381" y="4741323"/>
                <a:ext cx="2174908" cy="263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100" b="0" i="0" u="none" strike="noStrike" cap="none" dirty="0">
                    <a:solidFill>
                      <a:schemeClr val="bg1"/>
                    </a:solidFill>
                    <a:latin typeface="Arial"/>
                    <a:ea typeface="Segoe UI Black" panose="020B0A02040204020203" pitchFamily="34" charset="0"/>
                    <a:cs typeface="Arial"/>
                    <a:sym typeface="Arial"/>
                  </a:rPr>
                  <a:t>Email :</a:t>
                </a:r>
                <a:r>
                  <a:rPr lang="en-US" sz="1100" dirty="0">
                    <a:solidFill>
                      <a:schemeClr val="bg1"/>
                    </a:solidFill>
                  </a:rPr>
                  <a:t>info@alkafeel.edu.iq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2B158153-F695-4B33-8642-1A0EAFE058EB}"/>
                  </a:ext>
                </a:extLst>
              </p:cNvPr>
              <p:cNvSpPr txBox="1"/>
              <p:nvPr userDrawn="1"/>
            </p:nvSpPr>
            <p:spPr>
              <a:xfrm>
                <a:off x="7770810" y="4741323"/>
                <a:ext cx="86747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</a:pPr>
                <a:endParaRPr lang="en-US" sz="1100" b="0" i="0" u="none" strike="noStrike" cap="none" dirty="0">
                  <a:solidFill>
                    <a:srgbClr val="002060"/>
                  </a:solidFill>
                  <a:latin typeface="+mn-lt"/>
                  <a:ea typeface="Segoe UI Black" panose="020B0A02040204020203" pitchFamily="34" charset="0"/>
                  <a:cs typeface="+mn-cs"/>
                  <a:sym typeface="Arial"/>
                </a:endParaRPr>
              </a:p>
            </p:txBody>
          </p:sp>
        </p:grpSp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9B456AB-22B2-4FA9-809A-639D9B5FCF70}"/>
              </a:ext>
            </a:extLst>
          </p:cNvPr>
          <p:cNvGrpSpPr/>
          <p:nvPr userDrawn="1"/>
        </p:nvGrpSpPr>
        <p:grpSpPr>
          <a:xfrm>
            <a:off x="3801101" y="6183529"/>
            <a:ext cx="2804336" cy="527788"/>
            <a:chOff x="2276499" y="3408302"/>
            <a:chExt cx="2804336" cy="527788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80EAE3E0-44D0-46B2-937B-EAEE4C7E467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duotone>
                <a:schemeClr val="accent5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76499" y="3408302"/>
              <a:ext cx="735959" cy="527788"/>
            </a:xfrm>
            <a:prstGeom prst="rect">
              <a:avLst/>
            </a:prstGeom>
          </p:spPr>
        </p:pic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54112FD-5A25-4014-B4FD-C7F661F6110A}"/>
                </a:ext>
              </a:extLst>
            </p:cNvPr>
            <p:cNvGrpSpPr/>
            <p:nvPr userDrawn="1"/>
          </p:nvGrpSpPr>
          <p:grpSpPr>
            <a:xfrm>
              <a:off x="2845992" y="3568276"/>
              <a:ext cx="2234843" cy="261610"/>
              <a:chOff x="6538000" y="4741322"/>
              <a:chExt cx="2234843" cy="263413"/>
            </a:xfrm>
          </p:grpSpPr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38EB65AC-D5FB-4AB4-8C39-80DBEDDEF7A8}"/>
                  </a:ext>
                </a:extLst>
              </p:cNvPr>
              <p:cNvSpPr txBox="1"/>
              <p:nvPr userDrawn="1"/>
            </p:nvSpPr>
            <p:spPr>
              <a:xfrm>
                <a:off x="6538000" y="4741322"/>
                <a:ext cx="2234843" cy="2634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r>
                  <a:rPr lang="en-US" sz="1100" b="0" i="0" u="none" strike="noStrike" cap="none" dirty="0">
                    <a:solidFill>
                      <a:schemeClr val="bg1"/>
                    </a:solidFill>
                    <a:latin typeface="Arial"/>
                    <a:ea typeface="Segoe UI Black" panose="020B0A02040204020203" pitchFamily="34" charset="0"/>
                    <a:cs typeface="Arial"/>
                    <a:sym typeface="Arial"/>
                  </a:rPr>
                  <a:t>Website :</a:t>
                </a:r>
                <a:r>
                  <a:rPr lang="en-US" sz="1100" dirty="0">
                    <a:solidFill>
                      <a:schemeClr val="bg1"/>
                    </a:solidFill>
                  </a:rPr>
                  <a:t>http://Alkafeel.edu.iq</a:t>
                </a: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3677BC36-AB45-4868-BDB7-56C8683913A3}"/>
                  </a:ext>
                </a:extLst>
              </p:cNvPr>
              <p:cNvSpPr txBox="1"/>
              <p:nvPr userDrawn="1"/>
            </p:nvSpPr>
            <p:spPr>
              <a:xfrm>
                <a:off x="7770810" y="4741323"/>
                <a:ext cx="867479" cy="2616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R="0" algn="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Font typeface="Arial"/>
                </a:pPr>
                <a:endParaRPr lang="en-US" sz="1100" b="0" i="0" u="none" strike="noStrike" cap="none" dirty="0">
                  <a:solidFill>
                    <a:srgbClr val="002060"/>
                  </a:solidFill>
                  <a:latin typeface="+mn-lt"/>
                  <a:ea typeface="Segoe UI Black" panose="020B0A02040204020203" pitchFamily="34" charset="0"/>
                  <a:cs typeface="+mn-cs"/>
                  <a:sym typeface="Arial"/>
                </a:endParaRPr>
              </a:p>
            </p:txBody>
          </p:sp>
        </p:grpSp>
      </p:grpSp>
      <p:sp>
        <p:nvSpPr>
          <p:cNvPr id="27" name="Arrow: Pentagon 26">
            <a:extLst>
              <a:ext uri="{FF2B5EF4-FFF2-40B4-BE49-F238E27FC236}">
                <a16:creationId xmlns:a16="http://schemas.microsoft.com/office/drawing/2014/main" id="{DB1419E4-4C95-4933-9088-533031767AEC}"/>
              </a:ext>
            </a:extLst>
          </p:cNvPr>
          <p:cNvSpPr/>
          <p:nvPr userDrawn="1"/>
        </p:nvSpPr>
        <p:spPr>
          <a:xfrm flipH="1">
            <a:off x="10801883" y="94392"/>
            <a:ext cx="1390116" cy="779092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صورة 1">
            <a:extLst>
              <a:ext uri="{FF2B5EF4-FFF2-40B4-BE49-F238E27FC236}">
                <a16:creationId xmlns:a16="http://schemas.microsoft.com/office/drawing/2014/main" id="{BF5E8E17-3DFA-41DB-B46D-F4A5C3C3DB5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8302" y="98779"/>
            <a:ext cx="719257" cy="741451"/>
          </a:xfrm>
          <a:prstGeom prst="rect">
            <a:avLst/>
          </a:prstGeom>
        </p:spPr>
      </p:pic>
      <p:sp>
        <p:nvSpPr>
          <p:cNvPr id="30" name="Google Shape;78;p5">
            <a:extLst>
              <a:ext uri="{FF2B5EF4-FFF2-40B4-BE49-F238E27FC236}">
                <a16:creationId xmlns:a16="http://schemas.microsoft.com/office/drawing/2014/main" id="{D42B2945-53BD-4C9A-802F-AC330CBF3A7D}"/>
              </a:ext>
            </a:extLst>
          </p:cNvPr>
          <p:cNvSpPr txBox="1">
            <a:spLocks noGrp="1"/>
          </p:cNvSpPr>
          <p:nvPr>
            <p:ph type="title" hasCustomPrompt="1"/>
          </p:nvPr>
        </p:nvSpPr>
        <p:spPr>
          <a:xfrm>
            <a:off x="1229067" y="305901"/>
            <a:ext cx="9407628" cy="406736"/>
          </a:xfrm>
          <a:prstGeom prst="rect">
            <a:avLst/>
          </a:prstGeom>
        </p:spPr>
        <p:txBody>
          <a:bodyPr spcFirstLastPara="1" wrap="square" lIns="91425" tIns="91425" rIns="91425" bIns="91425" anchor="ctr" anchorCtr="0"/>
          <a:lstStyle>
            <a:lvl1pPr lvl="0" algn="l">
              <a:spcBef>
                <a:spcPts val="0"/>
              </a:spcBef>
              <a:spcAft>
                <a:spcPts val="0"/>
              </a:spcAft>
              <a:buSzPts val="2000"/>
              <a:buNone/>
              <a:defRPr sz="1800" b="0" i="0" u="none" strike="noStrike" cap="none" dirty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n-cs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r>
              <a:rPr lang="en-US" dirty="0"/>
              <a:t>Title</a:t>
            </a:r>
            <a:endParaRPr dirty="0"/>
          </a:p>
        </p:txBody>
      </p:sp>
      <p:sp>
        <p:nvSpPr>
          <p:cNvPr id="31" name="Arrow: Pentagon 30">
            <a:extLst>
              <a:ext uri="{FF2B5EF4-FFF2-40B4-BE49-F238E27FC236}">
                <a16:creationId xmlns:a16="http://schemas.microsoft.com/office/drawing/2014/main" id="{CF8ACE1E-B011-4A84-8C6B-EC5A84BCC96C}"/>
              </a:ext>
            </a:extLst>
          </p:cNvPr>
          <p:cNvSpPr/>
          <p:nvPr userDrawn="1"/>
        </p:nvSpPr>
        <p:spPr>
          <a:xfrm rot="10800000" flipH="1">
            <a:off x="342004" y="108551"/>
            <a:ext cx="833653" cy="764932"/>
          </a:xfrm>
          <a:prstGeom prst="homePlate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oogle Shape;239;p16">
            <a:extLst>
              <a:ext uri="{FF2B5EF4-FFF2-40B4-BE49-F238E27FC236}">
                <a16:creationId xmlns:a16="http://schemas.microsoft.com/office/drawing/2014/main" id="{51093C29-0B93-4657-AED3-FDF929FB8F78}"/>
              </a:ext>
            </a:extLst>
          </p:cNvPr>
          <p:cNvGrpSpPr/>
          <p:nvPr userDrawn="1"/>
        </p:nvGrpSpPr>
        <p:grpSpPr>
          <a:xfrm flipH="1">
            <a:off x="475796" y="305901"/>
            <a:ext cx="347472" cy="288032"/>
            <a:chOff x="2594050" y="1631825"/>
            <a:chExt cx="439625" cy="439625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33" name="Google Shape;240;p16">
              <a:extLst>
                <a:ext uri="{FF2B5EF4-FFF2-40B4-BE49-F238E27FC236}">
                  <a16:creationId xmlns:a16="http://schemas.microsoft.com/office/drawing/2014/main" id="{D741DFC4-3093-494D-888D-CB021DB886F6}"/>
                </a:ext>
              </a:extLst>
            </p:cNvPr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grp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F5378"/>
                </a:solidFill>
              </a:endParaRPr>
            </a:p>
          </p:txBody>
        </p:sp>
        <p:sp>
          <p:nvSpPr>
            <p:cNvPr id="34" name="Google Shape;241;p16">
              <a:extLst>
                <a:ext uri="{FF2B5EF4-FFF2-40B4-BE49-F238E27FC236}">
                  <a16:creationId xmlns:a16="http://schemas.microsoft.com/office/drawing/2014/main" id="{67B83C70-8ECE-4716-943D-2F22333E5466}"/>
                </a:ext>
              </a:extLst>
            </p:cNvPr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grp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F5378"/>
                </a:solidFill>
              </a:endParaRPr>
            </a:p>
          </p:txBody>
        </p:sp>
        <p:sp>
          <p:nvSpPr>
            <p:cNvPr id="42" name="Google Shape;242;p16">
              <a:extLst>
                <a:ext uri="{FF2B5EF4-FFF2-40B4-BE49-F238E27FC236}">
                  <a16:creationId xmlns:a16="http://schemas.microsoft.com/office/drawing/2014/main" id="{78DD374C-E66A-42D5-A2FE-A69BE7181EC7}"/>
                </a:ext>
              </a:extLst>
            </p:cNvPr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grp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F5378"/>
                </a:solidFill>
              </a:endParaRPr>
            </a:p>
          </p:txBody>
        </p:sp>
        <p:sp>
          <p:nvSpPr>
            <p:cNvPr id="43" name="Google Shape;243;p16">
              <a:extLst>
                <a:ext uri="{FF2B5EF4-FFF2-40B4-BE49-F238E27FC236}">
                  <a16:creationId xmlns:a16="http://schemas.microsoft.com/office/drawing/2014/main" id="{C9117AA7-AA5F-4621-A3D9-FA22B13E47E5}"/>
                </a:ext>
              </a:extLst>
            </p:cNvPr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grpFill/>
            <a:ln w="12175" cap="rnd" cmpd="sng">
              <a:solidFill>
                <a:srgbClr val="FF98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3F5378"/>
                </a:solidFill>
              </a:endParaRPr>
            </a:p>
          </p:txBody>
        </p:sp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B48B2958-B7A7-489A-B909-03A008329EB1}"/>
              </a:ext>
            </a:extLst>
          </p:cNvPr>
          <p:cNvSpPr/>
          <p:nvPr userDrawn="1"/>
        </p:nvSpPr>
        <p:spPr>
          <a:xfrm rot="5400000">
            <a:off x="-3375944" y="3305240"/>
            <a:ext cx="6928704" cy="17681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C16464-CFF8-4E34-B354-25BDA408DB5C}"/>
              </a:ext>
            </a:extLst>
          </p:cNvPr>
          <p:cNvSpPr/>
          <p:nvPr userDrawn="1"/>
        </p:nvSpPr>
        <p:spPr>
          <a:xfrm rot="5400000">
            <a:off x="-3207849" y="3308147"/>
            <a:ext cx="6928704" cy="171002"/>
          </a:xfrm>
          <a:prstGeom prst="rect">
            <a:avLst/>
          </a:prstGeom>
          <a:solidFill>
            <a:schemeClr val="accent5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4566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A08392-4B38-4553-8070-6E196FF2B3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EC0FA-1EB9-44D9-B5C7-2CDAD439F1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18A8DC-9105-4939-AD5F-34B67CC3C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01B4D9-90DC-457D-AF38-C2506EBFEADE}" type="datetimeFigureOut">
              <a:rPr lang="en-AE" smtClean="0"/>
              <a:t>07/02/2026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1CC38-E733-441E-9D9D-5ED3591952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5DAD9D-FE9A-4E58-907E-3DE7B63EAA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5E85B2-9E9A-4F3F-AE08-E13958322AB8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33315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customXml" Target="../ink/ink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1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0960-D904-4267-B10D-07EF34F469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577D27-4111-4F3B-8EE1-6FE3A9E97F6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78930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FBC5-9E83-48A9-A20F-CEAD086DBFA3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769735" y="864786"/>
            <a:ext cx="6308945" cy="5080789"/>
          </a:xfrm>
        </p:spPr>
        <p:txBody>
          <a:bodyPr/>
          <a:lstStyle/>
          <a:p>
            <a:r>
              <a:rPr lang="en-US" sz="4400" b="1" dirty="0">
                <a:solidFill>
                  <a:schemeClr val="tx1"/>
                </a:solidFill>
              </a:rPr>
              <a:t>Pharmacology of Antibiotics </a:t>
            </a:r>
          </a:p>
          <a:p>
            <a:endParaRPr lang="en-US" sz="3600" b="1" dirty="0">
              <a:solidFill>
                <a:srgbClr val="FF0000"/>
              </a:solidFill>
            </a:endParaRPr>
          </a:p>
        </p:txBody>
      </p:sp>
      <p:pic>
        <p:nvPicPr>
          <p:cNvPr id="6" name="عنصر نائب للمحتوى 3" descr="download (1)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07" y="864786"/>
            <a:ext cx="5211651" cy="5346634"/>
          </a:xfrm>
          <a:prstGeom prst="rect">
            <a:avLst/>
          </a:prstGeom>
        </p:spPr>
      </p:pic>
      <p:sp>
        <p:nvSpPr>
          <p:cNvPr id="3" name="AutoShape 2" descr="Jaber Ibn Hayyan University Agreement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9454492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FBC5-9E83-48A9-A20F-CEAD086DBFA3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Principles of Antimicrobial therapy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9067" y="1081825"/>
            <a:ext cx="9339062" cy="19962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0186" y="3078051"/>
            <a:ext cx="5652598" cy="2727687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 rot="10800000">
            <a:off x="9834033" y="2459865"/>
            <a:ext cx="572096" cy="4893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5717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FBC5-9E83-48A9-A20F-CEAD086DBFA3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b="1" dirty="0"/>
              <a:t>Classification of Antimicrobial Drugs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874" y="1390918"/>
            <a:ext cx="10959142" cy="381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2899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FBC5-9E83-48A9-A20F-CEAD086DBFA3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b="1" dirty="0"/>
              <a:t>Classification of Antimicrobial Drugs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899" y="1492135"/>
            <a:ext cx="8657439" cy="3955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969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FBC5-9E83-48A9-A20F-CEAD086DBFA3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3200" b="1" dirty="0"/>
              <a:t>Classification of Antimicrobial Drugs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956" y="1406297"/>
            <a:ext cx="11238791" cy="32319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146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FBC5-9E83-48A9-A20F-CEAD086DBFA3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Site of Actions of Antibacterial Drugs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0918" y="1015572"/>
            <a:ext cx="9473668" cy="500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24309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FBC5-9E83-48A9-A20F-CEAD086DBFA3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5368" y="1867436"/>
            <a:ext cx="10092430" cy="3825026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20108" y="964708"/>
            <a:ext cx="3055379" cy="20231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146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FBC5-9E83-48A9-A20F-CEAD086DBFA3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800" b="1" dirty="0"/>
              <a:t>Results of Combination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687" y="1326524"/>
            <a:ext cx="5766004" cy="224541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t="7641"/>
          <a:stretch/>
        </p:blipFill>
        <p:spPr>
          <a:xfrm>
            <a:off x="538383" y="3322750"/>
            <a:ext cx="5652692" cy="2125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6897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8054D9-7D05-4A52-9874-9CFE57EB9B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E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E72D18D-2FDF-477C-9E7E-189879FF5B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endParaRPr lang="en-AE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CFAAAC-D2D4-4FFD-9DDD-E38B4CF2F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57869" y="1210374"/>
            <a:ext cx="5715000" cy="42862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2D5D72-8968-4522-ADA7-EA97E283C7B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48" y="1149293"/>
            <a:ext cx="5015579" cy="434733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53DED0A-D741-4B09-975B-E4939972AE51}"/>
              </a:ext>
            </a:extLst>
          </p:cNvPr>
          <p:cNvSpPr txBox="1"/>
          <p:nvPr/>
        </p:nvSpPr>
        <p:spPr>
          <a:xfrm>
            <a:off x="3450617" y="1677798"/>
            <a:ext cx="248226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>
                <a:solidFill>
                  <a:srgbClr val="002060"/>
                </a:solidFill>
              </a:rPr>
              <a:t>Protein synthesis inhibitors</a:t>
            </a:r>
            <a:endParaRPr lang="en-AE" sz="1400" dirty="0">
              <a:solidFill>
                <a:srgbClr val="002060"/>
              </a:solidFill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D08AB96A-00A8-4368-80C9-E43B53FE2D8D}"/>
                  </a:ext>
                </a:extLst>
              </p14:cNvPr>
              <p14:cNvContentPartPr/>
              <p14:nvPr/>
            </p14:nvContentPartPr>
            <p14:xfrm>
              <a:off x="3238818" y="2482507"/>
              <a:ext cx="2567880" cy="4550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D08AB96A-00A8-4368-80C9-E43B53FE2D8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184818" y="2374507"/>
                <a:ext cx="2675520" cy="670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8546416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FBC5-9E83-48A9-A20F-CEAD086DBFA3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2000" b="1" dirty="0"/>
              <a:t>CLINICAL APPROACHES FOR RATIONAL PRESCRIBING OF ANTIBIOTICS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6990" y="1339403"/>
            <a:ext cx="9380200" cy="352881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87930" y="913058"/>
            <a:ext cx="2190750" cy="2190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8622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FBC5-9E83-48A9-A20F-CEAD086DBFA3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CLINICAL APPROACHES FOR RATIONAL PRESCRIBING OF ANTIBIOTICS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07" y="1365160"/>
            <a:ext cx="8749833" cy="298789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81069" y="901521"/>
            <a:ext cx="3110931" cy="2691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2659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FBC5-9E83-48A9-A20F-CEAD086DBFA3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CLINICAL APPROACHES FOR RATIONAL PRESCRIBING OF ANTIBIOTICS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75" y="1169838"/>
            <a:ext cx="10303098" cy="4770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4329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FBC5-9E83-48A9-A20F-CEAD086DBFA3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CLINICAL APPROACHES FOR RATIONAL PRESCRIBING OF ANTIBIOTICS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0361" y="1147657"/>
            <a:ext cx="7070791" cy="487965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BABF843-C934-4838-84E5-A4D71B49D6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55518" y="830688"/>
            <a:ext cx="3446121" cy="17363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697D81F-0322-42EE-BCC3-39D31807A3C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4157" y="2643629"/>
            <a:ext cx="2887481" cy="1736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1632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FBC5-9E83-48A9-A20F-CEAD086DBFA3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CLINICAL APPROACHES FOR RATIONAL PRESCRIBING OF ANTIBIOTICS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6975" y="1646420"/>
            <a:ext cx="10839890" cy="3629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32442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FBC5-9E83-48A9-A20F-CEAD086DBFA3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CLINICAL APPROACHES FOR RATIONAL PRESCRIBING OF ANTIBIOTICS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94" y="1225316"/>
            <a:ext cx="10215447" cy="470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7254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FBC5-9E83-48A9-A20F-CEAD086DBFA3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CLINICAL APPROACHES FOR RATIONAL PRESCRIBING OF ANTIBIOTICS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9549" y="1300868"/>
            <a:ext cx="10649252" cy="4108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7575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651E25F-78A5-49A4-B82F-26B7451335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fr-FR"/>
              <a:t>Pharmacodynamic properties of antibiotics</a:t>
            </a:r>
          </a:p>
        </p:txBody>
      </p:sp>
      <p:sp>
        <p:nvSpPr>
          <p:cNvPr id="36890" name="Slide Number Placeholder 2">
            <a:extLst>
              <a:ext uri="{FF2B5EF4-FFF2-40B4-BE49-F238E27FC236}">
                <a16:creationId xmlns:a16="http://schemas.microsoft.com/office/drawing/2014/main" id="{B667BDF3-B6BE-4F4E-9560-968D5DEFC9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8FF2216-3A48-440A-9AB1-4F4723D5F32D}" type="slidenum">
              <a:rPr lang="ar-SA" altLang="en-US" sz="1200">
                <a:solidFill>
                  <a:srgbClr val="FFFFFF"/>
                </a:solidFill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en-US" sz="1200">
              <a:solidFill>
                <a:srgbClr val="FFFFFF"/>
              </a:solidFill>
            </a:endParaRPr>
          </a:p>
        </p:txBody>
      </p:sp>
      <p:graphicFrame>
        <p:nvGraphicFramePr>
          <p:cNvPr id="4" name="Group 41">
            <a:extLst>
              <a:ext uri="{FF2B5EF4-FFF2-40B4-BE49-F238E27FC236}">
                <a16:creationId xmlns:a16="http://schemas.microsoft.com/office/drawing/2014/main" id="{565F9D03-8CA4-4687-AA1D-5488375BF093}"/>
              </a:ext>
            </a:extLst>
          </p:cNvPr>
          <p:cNvGraphicFramePr>
            <a:graphicFrameLocks/>
          </p:cNvGraphicFramePr>
          <p:nvPr/>
        </p:nvGraphicFramePr>
        <p:xfrm>
          <a:off x="2200276" y="1439864"/>
          <a:ext cx="8208963" cy="4248149"/>
        </p:xfrm>
        <a:graphic>
          <a:graphicData uri="http://schemas.openxmlformats.org/drawingml/2006/table">
            <a:tbl>
              <a:tblPr/>
              <a:tblGrid>
                <a:gridCol w="2912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117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8496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02477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fr-F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Type of bactericidal profile</a:t>
                      </a:r>
                    </a:p>
                  </a:txBody>
                  <a:tcPr marL="91441" marR="91441" marT="45717" marB="4571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fr-F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Important parameter</a:t>
                      </a:r>
                    </a:p>
                  </a:txBody>
                  <a:tcPr marL="91441" marR="91441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fr-FR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Dosage optimization</a:t>
                      </a:r>
                    </a:p>
                  </a:txBody>
                  <a:tcPr marL="91441" marR="91441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4368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fr-F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Dose-dependent</a:t>
                      </a:r>
                      <a:r>
                        <a:rPr kumimoji="0" lang="fr-FR" sz="2000" b="0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 </a:t>
                      </a:r>
                      <a:r>
                        <a:rPr kumimoji="0" lang="fr-FR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Aminoglycosides, quinolones</a:t>
                      </a:r>
                    </a:p>
                  </a:txBody>
                  <a:tcPr marL="91441" marR="91441" marT="45717" marB="4571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fr-F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Cmax / MIC Prolonged PAE</a:t>
                      </a:r>
                    </a:p>
                  </a:txBody>
                  <a:tcPr marL="91441" marR="91441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fr-F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Single daily dose</a:t>
                      </a:r>
                    </a:p>
                  </a:txBody>
                  <a:tcPr marL="91441" marR="91441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7673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fr-FR" sz="2000" b="1" i="0" u="none" strike="noStrike" cap="none" normalizeH="0" baseline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Time-dependent</a:t>
                      </a:r>
                      <a:r>
                        <a:rPr kumimoji="0" lang="fr-F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 </a:t>
                      </a:r>
                      <a:r>
                        <a:rPr kumimoji="0" lang="fr-FR" sz="1800" b="0" i="1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Penicillin, cephalosporins</a:t>
                      </a:r>
                    </a:p>
                  </a:txBody>
                  <a:tcPr marL="91441" marR="91441" marT="45717" marB="4571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fr-F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T &gt; MIC No PAE</a:t>
                      </a:r>
                    </a:p>
                  </a:txBody>
                  <a:tcPr marL="91441" marR="91441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fr-F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Multiple DD or continuous infusion</a:t>
                      </a:r>
                    </a:p>
                  </a:txBody>
                  <a:tcPr marL="91441" marR="91441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5249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fr-FR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Cumulative-dose </a:t>
                      </a:r>
                      <a:r>
                        <a:rPr kumimoji="0" lang="fr-FR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800000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dependent</a:t>
                      </a:r>
                      <a:r>
                        <a:rPr kumimoji="0" lang="fr-F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 </a:t>
                      </a:r>
                      <a:r>
                        <a:rPr kumimoji="0" lang="fr-FR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Clarithromycin</a:t>
                      </a:r>
                      <a:r>
                        <a:rPr kumimoji="0" lang="fr-FR" sz="1800" b="0" i="1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, </a:t>
                      </a:r>
                      <a:r>
                        <a:rPr kumimoji="0" lang="fr-FR" sz="1800" b="0" i="1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clindamycin</a:t>
                      </a:r>
                      <a:endParaRPr kumimoji="0" lang="fr-FR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  <a:ea typeface="ＭＳ Ｐゴシック" charset="0"/>
                      </a:endParaRPr>
                    </a:p>
                  </a:txBody>
                  <a:tcPr marL="91441" marR="91441" marT="45717" marB="45717" anchor="ctr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fr-F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AUC / MIC </a:t>
                      </a:r>
                      <a:r>
                        <a:rPr kumimoji="0" lang="fr-FR" sz="20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Prolonged</a:t>
                      </a:r>
                      <a:r>
                        <a:rPr kumimoji="0" lang="fr-F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 PAE</a:t>
                      </a:r>
                    </a:p>
                  </a:txBody>
                  <a:tcPr marL="91441" marR="91441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9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charset="0"/>
                        <a:buNone/>
                        <a:tabLst/>
                      </a:pPr>
                      <a:r>
                        <a:rPr kumimoji="0" lang="fr-FR" sz="2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charset="0"/>
                          <a:ea typeface="ＭＳ Ｐゴシック" charset="0"/>
                        </a:rPr>
                        <a:t>Total dose and duration</a:t>
                      </a:r>
                    </a:p>
                  </a:txBody>
                  <a:tcPr marL="91441" marR="91441" marT="45717" marB="45717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889" name="ZoneTexte 4">
            <a:extLst>
              <a:ext uri="{FF2B5EF4-FFF2-40B4-BE49-F238E27FC236}">
                <a16:creationId xmlns:a16="http://schemas.microsoft.com/office/drawing/2014/main" id="{8063B9CD-0978-4B09-A66E-349F2565108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2626" y="6308725"/>
            <a:ext cx="340677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fr-FR" altLang="en-US" sz="1800">
                <a:latin typeface="Verdana" panose="020B0604030504040204" pitchFamily="34" charset="0"/>
                <a:ea typeface="ＭＳ Ｐゴシック" panose="020B0600070205080204" pitchFamily="34" charset="-128"/>
              </a:rPr>
              <a:t>PAE: Post-Antibiotic Activity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FBC5-9E83-48A9-A20F-CEAD086DBFA3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CLINICAL APPROACHES FOR RATIONAL PRESCRIBING OF ANTIBIOTICS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8515" y="1114558"/>
            <a:ext cx="6398905" cy="484835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2489" y="1399358"/>
            <a:ext cx="3294711" cy="19461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A37A479-662D-40F7-AB8F-32C08CA76F0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7420" y="3229760"/>
            <a:ext cx="4236441" cy="3628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51454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FBC5-9E83-48A9-A20F-CEAD086DBFA3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CLINICAL APPROACHES FOR RATIONAL PRESCRIBING OF ANTIBIOTICS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3556" y="966654"/>
            <a:ext cx="6258698" cy="314325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8438" y="3852326"/>
            <a:ext cx="6326153" cy="142237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9067" y="5274702"/>
            <a:ext cx="6245524" cy="75558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7D05413-4156-4751-B5F1-34195957629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4473" y="742950"/>
            <a:ext cx="5033394" cy="5372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4871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EDFBC5-9E83-48A9-A20F-CEAD086DBFA3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CLINICAL APPROACHES FOR RATIONAL PRESCRIBING OF ANTIBIOTICS 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215" y="1000107"/>
            <a:ext cx="10109917" cy="5153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70902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178</Words>
  <Application>Microsoft Office PowerPoint</Application>
  <PresentationFormat>Widescreen</PresentationFormat>
  <Paragraphs>53</Paragraphs>
  <Slides>21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Light</vt:lpstr>
      <vt:lpstr>Verdana</vt:lpstr>
      <vt:lpstr>Wingdings</vt:lpstr>
      <vt:lpstr>Office Theme</vt:lpstr>
      <vt:lpstr>PowerPoint Presentation</vt:lpstr>
      <vt:lpstr>PowerPoint Presentation</vt:lpstr>
      <vt:lpstr>Principles of Antimicrobial therapy </vt:lpstr>
      <vt:lpstr>Classification of Antimicrobial Drugs </vt:lpstr>
      <vt:lpstr>Classification of Antimicrobial Drugs </vt:lpstr>
      <vt:lpstr>Classification of Antimicrobial Drugs </vt:lpstr>
      <vt:lpstr>Site of Actions of Antibacterial Drugs </vt:lpstr>
      <vt:lpstr>PowerPoint Presentation</vt:lpstr>
      <vt:lpstr>Results of Combination </vt:lpstr>
      <vt:lpstr>PowerPoint Presentation</vt:lpstr>
      <vt:lpstr>CLINICAL APPROACHES FOR RATIONAL PRESCRIBING OF ANTIBIOTICS </vt:lpstr>
      <vt:lpstr>CLINICAL APPROACHES FOR RATIONAL PRESCRIBING OF ANTIBIOTICS </vt:lpstr>
      <vt:lpstr>CLINICAL APPROACHES FOR RATIONAL PRESCRIBING OF ANTIBIOTICS </vt:lpstr>
      <vt:lpstr>CLINICAL APPROACHES FOR RATIONAL PRESCRIBING OF ANTIBIOTICS </vt:lpstr>
      <vt:lpstr>CLINICAL APPROACHES FOR RATIONAL PRESCRIBING OF ANTIBIOTICS </vt:lpstr>
      <vt:lpstr>CLINICAL APPROACHES FOR RATIONAL PRESCRIBING OF ANTIBIOTICS </vt:lpstr>
      <vt:lpstr>CLINICAL APPROACHES FOR RATIONAL PRESCRIBING OF ANTIBIOTICS </vt:lpstr>
      <vt:lpstr>Pharmacodynamic properties of antibiotics</vt:lpstr>
      <vt:lpstr>CLINICAL APPROACHES FOR RATIONAL PRESCRIBING OF ANTIBIOTICS </vt:lpstr>
      <vt:lpstr>CLINICAL APPROACHES FOR RATIONAL PRESCRIBING OF ANTIBIOTICS </vt:lpstr>
      <vt:lpstr>CLINICAL APPROACHES FOR RATIONAL PRESCRIBING OF ANTIBIOTICS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Furqan Hashim</dc:creator>
  <cp:lastModifiedBy>Furqan Hashim</cp:lastModifiedBy>
  <cp:revision>1</cp:revision>
  <dcterms:created xsi:type="dcterms:W3CDTF">2026-02-07T10:11:46Z</dcterms:created>
  <dcterms:modified xsi:type="dcterms:W3CDTF">2026-02-07T10:12:03Z</dcterms:modified>
</cp:coreProperties>
</file>